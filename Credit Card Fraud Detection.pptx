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Urbanist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Urbanist-regular.fntdata"/><Relationship Id="rId11" Type="http://schemas.openxmlformats.org/officeDocument/2006/relationships/slide" Target="slides/slide5.xml"/><Relationship Id="rId22" Type="http://schemas.openxmlformats.org/officeDocument/2006/relationships/font" Target="fonts/Urbanist-italic.fntdata"/><Relationship Id="rId10" Type="http://schemas.openxmlformats.org/officeDocument/2006/relationships/slide" Target="slides/slide4.xml"/><Relationship Id="rId21" Type="http://schemas.openxmlformats.org/officeDocument/2006/relationships/font" Target="fonts/Urbanist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schemas.openxmlformats.org/officeDocument/2006/relationships/font" Target="fonts/Urbanis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9.png"/><Relationship Id="rId9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25.png"/><Relationship Id="rId7" Type="http://schemas.openxmlformats.org/officeDocument/2006/relationships/image" Target="../media/image9.png"/><Relationship Id="rId8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10" Type="http://schemas.openxmlformats.org/officeDocument/2006/relationships/image" Target="../media/image22.png"/><Relationship Id="rId9" Type="http://schemas.openxmlformats.org/officeDocument/2006/relationships/image" Target="../media/image23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6.png"/><Relationship Id="rId5" Type="http://schemas.openxmlformats.org/officeDocument/2006/relationships/image" Target="../media/image27.png"/><Relationship Id="rId6" Type="http://schemas.openxmlformats.org/officeDocument/2006/relationships/image" Target="../media/image20.png"/><Relationship Id="rId7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24.png"/><Relationship Id="rId5" Type="http://schemas.openxmlformats.org/officeDocument/2006/relationships/image" Target="../media/image34.png"/><Relationship Id="rId6" Type="http://schemas.openxmlformats.org/officeDocument/2006/relationships/image" Target="../media/image32.png"/><Relationship Id="rId7" Type="http://schemas.openxmlformats.org/officeDocument/2006/relationships/image" Target="../media/image29.png"/><Relationship Id="rId8" Type="http://schemas.openxmlformats.org/officeDocument/2006/relationships/image" Target="../media/image3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Relationship Id="rId4" Type="http://schemas.openxmlformats.org/officeDocument/2006/relationships/image" Target="../media/image3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3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54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Luca Guerra, Armin Soroosh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/>
          </a:p>
        </p:txBody>
      </p:sp>
      <p:pic>
        <p:nvPicPr>
          <p:cNvPr descr="image.png" id="88" name="Google Shape;8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81025" y="2838450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3895725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b="1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descr="image.png" id="101" name="Google Shape;10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8" name="Google Shape;10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containing transaction features and a binary target variable.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descr="image.png" id="117" name="Google Shape;117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descr="image.png" id="125" name="Google Shape;125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924300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/ PIN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719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37197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801100" y="4819650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81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Target: Fraud (0/1)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0" name="Google Shape;14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descr="image.png" id="166" name="Google Shape;166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3" name="Google Shape;17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{2C595D20-251C-4D22-B77C-D3A42B10F09D}</a:tableStyleId>
              </a:tblPr>
              <a:tblGrid>
                <a:gridCol w="2911675"/>
                <a:gridCol w="1727000"/>
              </a:tblGrid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6677025" y="2762250"/>
            <a:ext cx="463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endParaRPr/>
          </a:p>
        </p:txBody>
      </p:sp>
      <p:graphicFrame>
        <p:nvGraphicFramePr>
          <p:cNvPr id="181" name="Google Shape;181;p18"/>
          <p:cNvGraphicFramePr/>
          <p:nvPr/>
        </p:nvGraphicFramePr>
        <p:xfrm>
          <a:off x="6677025" y="35623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{2C595D20-251C-4D22-B77C-D3A42B10F09D}</a:tableStyleId>
              </a:tblPr>
              <a:tblGrid>
                <a:gridCol w="2911675"/>
                <a:gridCol w="1727000"/>
              </a:tblGrid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4" name="Google Shape;20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descr="image.png" id="209" name="Google Shape;20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0" name="Google Shape;22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3" name="Google Shape;23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514475"/>
            <a:ext cx="1102995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1"/>
          <p:cNvSpPr txBox="1"/>
          <p:nvPr/>
        </p:nvSpPr>
        <p:spPr>
          <a:xfrm>
            <a:off x="581025" y="252888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Area Under the Curve (AUC) measures the ability of the classifier to distinguish between classes.</a:t>
            </a:r>
            <a:endParaRPr/>
          </a:p>
        </p:txBody>
      </p:sp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descr="image.png" id="252" name="Google Shape;252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3" name="Google Shape;253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1" name="Google Shape;26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4116585"/>
            <a:ext cx="11029950" cy="9791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5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581025" y="467856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88888"/>
                </a:solidFill>
                <a:latin typeface="Urbanist"/>
                <a:ea typeface="Urbanist"/>
                <a:cs typeface="Urbanist"/>
                <a:sym typeface="Urbanist"/>
              </a:rPr>
              <a:t>Next Steps: Hyperparameter tuning and real-time API integration.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79" name="Google Shape;27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descr="image.png" id="282" name="Google Shape;282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2975" y="346975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63208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https://miro.medium.com/1*i0o8mjFfCn-uD79-F1Cqkw.png</a:t>
            </a:r>
            <a:endParaRPr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708923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