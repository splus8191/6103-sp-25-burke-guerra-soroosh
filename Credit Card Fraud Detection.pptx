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9144000"/>
  <p:embeddedFontLst>
    <p:embeddedFont>
      <p:font typeface="Urbanist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02"/>
    <p:restoredTop sz="94648"/>
  </p:normalViewPr>
  <p:slideViewPr>
    <p:cSldViewPr snapToGrid="0">
      <p:cViewPr>
        <p:scale>
          <a:sx n="75" d="100"/>
          <a:sy n="75" d="100"/>
        </p:scale>
        <p:origin x="778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causes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 (undete</a:t>
            </a:r>
            <a:r>
              <a:rPr lang="en-US" sz="1500" b="1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cted Frauds).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Fraud without blocking legitimate transactions.</a:t>
            </a:r>
            <a:endParaRPr dirty="0"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 Each record is a transaction. 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2868394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Numerical Features</a:t>
            </a:r>
            <a:endParaRPr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2868393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Categorical Binary Features</a:t>
            </a:r>
            <a:endParaRPr dirty="0"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512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883025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 Chip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5161434"/>
            <a:ext cx="28575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729044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782050" y="506722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0013EA-5A57-5707-4603-41A236930516}"/>
              </a:ext>
            </a:extLst>
          </p:cNvPr>
          <p:cNvSpPr txBox="1"/>
          <p:nvPr/>
        </p:nvSpPr>
        <p:spPr>
          <a:xfrm>
            <a:off x="8657272" y="432750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73B96D-9787-765D-405D-B78667DD26C5}"/>
              </a:ext>
            </a:extLst>
          </p:cNvPr>
          <p:cNvSpPr txBox="1"/>
          <p:nvPr/>
        </p:nvSpPr>
        <p:spPr>
          <a:xfrm>
            <a:off x="435610" y="5724525"/>
            <a:ext cx="3100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u="sng" dirty="0">
                <a:solidFill>
                  <a:schemeClr val="bg1"/>
                </a:solidFill>
              </a:rPr>
              <a:t>Chip Used:</a:t>
            </a:r>
            <a:r>
              <a:rPr lang="it-IT" b="1" dirty="0">
                <a:solidFill>
                  <a:schemeClr val="bg1"/>
                </a:solidFill>
              </a:rPr>
              <a:t> </a:t>
            </a:r>
            <a:r>
              <a:rPr lang="it-IT" dirty="0">
                <a:solidFill>
                  <a:schemeClr val="bg1"/>
                </a:solidFill>
              </a:rPr>
              <a:t>0.068 Fraud Ratio</a:t>
            </a:r>
            <a:br>
              <a:rPr lang="it-IT" dirty="0">
                <a:solidFill>
                  <a:schemeClr val="bg1"/>
                </a:solidFill>
              </a:rPr>
            </a:br>
            <a:r>
              <a:rPr lang="it-IT" b="1" u="sng" dirty="0">
                <a:solidFill>
                  <a:schemeClr val="bg1"/>
                </a:solidFill>
              </a:rPr>
              <a:t>Chip Not Used:</a:t>
            </a:r>
            <a:r>
              <a:rPr lang="it-IT" b="1" dirty="0">
                <a:solidFill>
                  <a:schemeClr val="bg1"/>
                </a:solidFill>
              </a:rPr>
              <a:t> </a:t>
            </a:r>
            <a:r>
              <a:rPr lang="it-IT" dirty="0">
                <a:solidFill>
                  <a:schemeClr val="bg1"/>
                </a:solidFill>
              </a:rPr>
              <a:t>0.111 Fraud Ratio</a:t>
            </a:r>
            <a:endParaRPr lang="en-CA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669219"/>
            <a:ext cx="5229225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Fraud Correlation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Checked which features have the strongest correlation to the target variable. </a:t>
            </a:r>
            <a:endParaRPr dirty="0"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Split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data 80/20 while maintaining the ratio of fraud cases (Stratify = y).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to continuous variables to normalize distance and price ratios.</a:t>
            </a:r>
            <a:endParaRPr dirty="0"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It is g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ood for interpretability but it assumes linear decision boundaries.</a:t>
            </a:r>
            <a:endParaRPr dirty="0"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SVC a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ttempts to find the optimal hyperplane separating fraud from non-fraud. Used with a linear kernel and balanced class weights.</a:t>
            </a:r>
            <a:endParaRPr dirty="0"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</a:t>
            </a: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formation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of Decision Trees. Reduces variance and typically provides the highest accuracy for our type of tabular data.</a:t>
            </a:r>
            <a:endParaRPr dirty="0"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3720476394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307799-76AC-9820-B67D-1FD82E2E4630}"/>
              </a:ext>
            </a:extLst>
          </p:cNvPr>
          <p:cNvSpPr txBox="1"/>
          <p:nvPr/>
        </p:nvSpPr>
        <p:spPr>
          <a:xfrm>
            <a:off x="6797040" y="2707065"/>
            <a:ext cx="42214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 dirty="0"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1575" y="4929187"/>
            <a:ext cx="4638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 This is due to its nature of using majority voting and a group of decision trees. </a:t>
            </a:r>
            <a:endParaRPr dirty="0"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 dirty="0"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325" y="1392381"/>
            <a:ext cx="6153350" cy="50456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98A453-E706-6D41-AB13-F18EDB02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042160"/>
            <a:ext cx="7305305" cy="3918815"/>
          </a:xfrm>
          <a:prstGeom prst="rect">
            <a:avLst/>
          </a:prstGeom>
        </p:spPr>
      </p:pic>
      <p:sp>
        <p:nvSpPr>
          <p:cNvPr id="7" name="Google Shape;227;p20">
            <a:extLst>
              <a:ext uri="{FF2B5EF4-FFF2-40B4-BE49-F238E27FC236}">
                <a16:creationId xmlns:a16="http://schemas.microsoft.com/office/drawing/2014/main" id="{506C4FCE-25E2-2B0D-53D7-E49C5157F98E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Model Deployment</a:t>
            </a:r>
            <a:endParaRPr lang="en-US" dirty="0"/>
          </a:p>
        </p:txBody>
      </p:sp>
      <p:sp>
        <p:nvSpPr>
          <p:cNvPr id="8" name="Google Shape;213;p19">
            <a:extLst>
              <a:ext uri="{FF2B5EF4-FFF2-40B4-BE49-F238E27FC236}">
                <a16:creationId xmlns:a16="http://schemas.microsoft.com/office/drawing/2014/main" id="{7A9D1389-1397-01B2-E9E1-3CAB0B50313C}"/>
              </a:ext>
            </a:extLst>
          </p:cNvPr>
          <p:cNvSpPr txBox="1"/>
          <p:nvPr/>
        </p:nvSpPr>
        <p:spPr>
          <a:xfrm>
            <a:off x="8366760" y="2042160"/>
            <a:ext cx="317519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model can be deployed to see new transactions and act upon it. This is essential in credit card fraud detection.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27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5300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526280" y="3059028"/>
            <a:ext cx="326517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Class Imbalance Fail 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Due to the large and imbalanced data, SVM failed. Moving forward, applying techniques to correct the imbalance should be considered. </a:t>
            </a:r>
            <a:endParaRPr lang="en-US"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09562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df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['fraud'] during the train-test split ensured our validation metrics were reliable and not skewed.</a:t>
            </a:r>
            <a:endParaRPr dirty="0"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782</Words>
  <Application>Microsoft Office PowerPoint</Application>
  <PresentationFormat>Widescreen</PresentationFormat>
  <Paragraphs>104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Guerra</cp:lastModifiedBy>
  <cp:revision>8</cp:revision>
  <dcterms:modified xsi:type="dcterms:W3CDTF">2025-12-02T21:38:14Z</dcterms:modified>
</cp:coreProperties>
</file>