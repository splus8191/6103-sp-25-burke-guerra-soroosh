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69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embeddedFontLst>
    <p:embeddedFont>
      <p:font typeface="Urbanist" panose="020B0A04040200000203" pitchFamily="34" charset="77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C595D20-251C-4D22-B77C-D3A42B10F09D}">
  <a:tblStyle styleId="{2C595D20-251C-4D22-B77C-D3A42B10F09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02"/>
    <p:restoredTop sz="94648"/>
  </p:normalViewPr>
  <p:slideViewPr>
    <p:cSldViewPr snapToGrid="0">
      <p:cViewPr varScale="1">
        <p:scale>
          <a:sx n="104" d="100"/>
          <a:sy n="104" d="100"/>
        </p:scale>
        <p:origin x="224" y="2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780E0094-8251-E148-1649-B827146E9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694821E0-4E68-F892-DF60-CAF78E5AA5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>
            <a:extLst>
              <a:ext uri="{FF2B5EF4-FFF2-40B4-BE49-F238E27FC236}">
                <a16:creationId xmlns:a16="http://schemas.microsoft.com/office/drawing/2014/main" id="{5E294512-13A4-9EC8-5576-27E75D473F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6398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jpe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jpeg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771525" y="1472803"/>
            <a:ext cx="4790598" cy="2262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Credit Card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Fraud Detection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771525" y="3926085"/>
            <a:ext cx="4562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71525" y="4754760"/>
            <a:ext cx="4562400" cy="395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06666"/>
              </a:lnSpc>
            </a:pPr>
            <a:r>
              <a:rPr lang="en-US" sz="12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Project by: </a:t>
            </a:r>
            <a:r>
              <a:rPr lang="en-US" sz="1200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Adam Burke, Armin Soroosh, Luca Guerra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200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Introduction to Data Mining DATS 6103</a:t>
            </a:r>
            <a:endParaRPr dirty="0"/>
          </a:p>
        </p:txBody>
      </p:sp>
      <p:pic>
        <p:nvPicPr>
          <p:cNvPr id="88" name="Google Shape;88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9525"/>
            <a:ext cx="6086475" cy="683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643187"/>
            <a:ext cx="5229225" cy="250507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81025" y="2324100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Financial Impact</a:t>
            </a:r>
            <a:endParaRPr dirty="0"/>
          </a:p>
        </p:txBody>
      </p:sp>
      <p:sp>
        <p:nvSpPr>
          <p:cNvPr id="96" name="Google Shape;96;p14"/>
          <p:cNvSpPr txBox="1"/>
          <p:nvPr/>
        </p:nvSpPr>
        <p:spPr>
          <a:xfrm>
            <a:off x="604837" y="2727938"/>
            <a:ext cx="52292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Credit card fraud incurs billions in losses annually for banks and consumers. Traditional manual detection is too slow for modern transaction volumes.</a:t>
            </a:r>
            <a:endParaRPr dirty="0"/>
          </a:p>
        </p:txBody>
      </p:sp>
      <p:sp>
        <p:nvSpPr>
          <p:cNvPr id="97" name="Google Shape;97;p14"/>
          <p:cNvSpPr txBox="1"/>
          <p:nvPr/>
        </p:nvSpPr>
        <p:spPr>
          <a:xfrm>
            <a:off x="581025" y="4006237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The Objective</a:t>
            </a:r>
            <a:endParaRPr dirty="0"/>
          </a:p>
        </p:txBody>
      </p:sp>
      <p:sp>
        <p:nvSpPr>
          <p:cNvPr id="98" name="Google Shape;98;p14"/>
          <p:cNvSpPr txBox="1"/>
          <p:nvPr/>
        </p:nvSpPr>
        <p:spPr>
          <a:xfrm>
            <a:off x="581025" y="4410075"/>
            <a:ext cx="52293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To develop an automated machine learning </a:t>
            </a:r>
            <a:r>
              <a:rPr lang="en-US" sz="150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model </a:t>
            </a: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capable of detecting fraudulent transactions with high accuracy, specifically focusing on minimizing </a:t>
            </a:r>
            <a:r>
              <a:rPr lang="en-US" sz="150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False Negatives</a:t>
            </a: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561058" y="3586162"/>
            <a:ext cx="487060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Security First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677025" y="4100512"/>
            <a:ext cx="46386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Our goal is to identify the "needle in the haystack" without blocking legitimate users.</a:t>
            </a:r>
            <a:endParaRPr/>
          </a:p>
        </p:txBody>
      </p:sp>
      <p:pic>
        <p:nvPicPr>
          <p:cNvPr id="101" name="Google Shape;101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805862" y="296703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Problem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581025" y="581025"/>
            <a:ext cx="47625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22422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057400"/>
            <a:ext cx="3486150" cy="367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057400"/>
            <a:ext cx="3486150" cy="367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057400"/>
            <a:ext cx="3486150" cy="3676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876300" y="3000375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Source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876300" y="3514725"/>
            <a:ext cx="2895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card_transdata.csv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876300" y="4010025"/>
            <a:ext cx="28956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 dataset from Kaggle containing transaction features and a binary target variable.</a:t>
            </a:r>
            <a:endParaRPr dirty="0"/>
          </a:p>
        </p:txBody>
      </p:sp>
      <p:sp>
        <p:nvSpPr>
          <p:cNvPr id="115" name="Google Shape;115;p15"/>
          <p:cNvSpPr txBox="1"/>
          <p:nvPr/>
        </p:nvSpPr>
        <p:spPr>
          <a:xfrm>
            <a:off x="4648200" y="2815322"/>
            <a:ext cx="304038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Continuous Numerical Features</a:t>
            </a:r>
            <a:endParaRPr dirty="0"/>
          </a:p>
        </p:txBody>
      </p:sp>
      <p:sp>
        <p:nvSpPr>
          <p:cNvPr id="116" name="Google Shape;116;p15"/>
          <p:cNvSpPr txBox="1"/>
          <p:nvPr/>
        </p:nvSpPr>
        <p:spPr>
          <a:xfrm>
            <a:off x="8388668" y="2791534"/>
            <a:ext cx="304038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Categorical (Binary) Features</a:t>
            </a:r>
            <a:endParaRPr dirty="0"/>
          </a:p>
        </p:txBody>
      </p:sp>
      <p:pic>
        <p:nvPicPr>
          <p:cNvPr id="117" name="Google Shape;117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6300" y="238125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8200" y="238125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4991100" y="347662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5053013" y="3400425"/>
            <a:ext cx="2514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Distance from home</a:t>
            </a:r>
            <a:endParaRPr dirty="0"/>
          </a:p>
        </p:txBody>
      </p:sp>
      <p:sp>
        <p:nvSpPr>
          <p:cNvPr id="121" name="Google Shape;121;p15"/>
          <p:cNvSpPr txBox="1"/>
          <p:nvPr/>
        </p:nvSpPr>
        <p:spPr>
          <a:xfrm>
            <a:off x="4991100" y="3924300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5076825" y="3877240"/>
            <a:ext cx="2514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Distance from last transaction</a:t>
            </a:r>
            <a:endParaRPr dirty="0"/>
          </a:p>
        </p:txBody>
      </p:sp>
      <p:sp>
        <p:nvSpPr>
          <p:cNvPr id="123" name="Google Shape;123;p15"/>
          <p:cNvSpPr txBox="1"/>
          <p:nvPr/>
        </p:nvSpPr>
        <p:spPr>
          <a:xfrm>
            <a:off x="4991100" y="467677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5076825" y="4604405"/>
            <a:ext cx="2514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Ratio to median purchase price</a:t>
            </a:r>
            <a:endParaRPr dirty="0"/>
          </a:p>
        </p:txBody>
      </p:sp>
      <p:pic>
        <p:nvPicPr>
          <p:cNvPr id="125" name="Google Shape;125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0100" y="2381250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8763000" y="347662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8848725" y="3400425"/>
            <a:ext cx="2514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Repeat Retailer</a:t>
            </a:r>
            <a:endParaRPr dirty="0"/>
          </a:p>
        </p:txBody>
      </p:sp>
      <p:sp>
        <p:nvSpPr>
          <p:cNvPr id="128" name="Google Shape;128;p15"/>
          <p:cNvSpPr txBox="1"/>
          <p:nvPr/>
        </p:nvSpPr>
        <p:spPr>
          <a:xfrm>
            <a:off x="8763000" y="3924300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8848725" y="3872382"/>
            <a:ext cx="25146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Used Chip </a:t>
            </a:r>
            <a:endParaRPr lang="en-US" sz="1500" dirty="0">
              <a:solidFill>
                <a:srgbClr val="CCCCCC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Used PIN</a:t>
            </a:r>
            <a:endParaRPr dirty="0"/>
          </a:p>
        </p:txBody>
      </p:sp>
      <p:sp>
        <p:nvSpPr>
          <p:cNvPr id="130" name="Google Shape;130;p15"/>
          <p:cNvSpPr txBox="1"/>
          <p:nvPr/>
        </p:nvSpPr>
        <p:spPr>
          <a:xfrm>
            <a:off x="8763000" y="4334903"/>
            <a:ext cx="451338" cy="23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dirty="0"/>
          </a:p>
        </p:txBody>
      </p:sp>
      <p:sp>
        <p:nvSpPr>
          <p:cNvPr id="131" name="Google Shape;131;p15"/>
          <p:cNvSpPr txBox="1"/>
          <p:nvPr/>
        </p:nvSpPr>
        <p:spPr>
          <a:xfrm>
            <a:off x="8848725" y="4709079"/>
            <a:ext cx="2514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Online Order</a:t>
            </a:r>
            <a:endParaRPr dirty="0"/>
          </a:p>
        </p:txBody>
      </p:sp>
      <p:sp>
        <p:nvSpPr>
          <p:cNvPr id="132" name="Google Shape;132;p15"/>
          <p:cNvSpPr txBox="1"/>
          <p:nvPr/>
        </p:nvSpPr>
        <p:spPr>
          <a:xfrm>
            <a:off x="8763000" y="4793789"/>
            <a:ext cx="59003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dirty="0"/>
          </a:p>
        </p:txBody>
      </p:sp>
      <p:sp>
        <p:nvSpPr>
          <p:cNvPr id="133" name="Google Shape;133;p15"/>
          <p:cNvSpPr txBox="1"/>
          <p:nvPr/>
        </p:nvSpPr>
        <p:spPr>
          <a:xfrm>
            <a:off x="8848725" y="5094761"/>
            <a:ext cx="2514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Fraud (0/1)</a:t>
            </a:r>
            <a:endParaRPr dirty="0"/>
          </a:p>
        </p:txBody>
      </p:sp>
      <p:sp>
        <p:nvSpPr>
          <p:cNvPr id="134" name="Google Shape;134;p15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Dataset Overview</a:t>
            </a:r>
            <a:endParaRPr/>
          </a:p>
        </p:txBody>
      </p:sp>
      <p:sp>
        <p:nvSpPr>
          <p:cNvPr id="135" name="Google Shape;135;p15"/>
          <p:cNvSpPr/>
          <p:nvPr/>
        </p:nvSpPr>
        <p:spPr>
          <a:xfrm>
            <a:off x="581025" y="581025"/>
            <a:ext cx="47625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95;p14">
            <a:extLst>
              <a:ext uri="{FF2B5EF4-FFF2-40B4-BE49-F238E27FC236}">
                <a16:creationId xmlns:a16="http://schemas.microsoft.com/office/drawing/2014/main" id="{D90A4C3E-70DA-A551-EC32-1B849B207FBD}"/>
              </a:ext>
            </a:extLst>
          </p:cNvPr>
          <p:cNvSpPr txBox="1"/>
          <p:nvPr/>
        </p:nvSpPr>
        <p:spPr>
          <a:xfrm>
            <a:off x="581025" y="1199585"/>
            <a:ext cx="8633313" cy="1338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https://</a:t>
            </a:r>
            <a:r>
              <a:rPr lang="en-US" b="1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www.kaggle.com</a:t>
            </a:r>
            <a:r>
              <a:rPr lang="en-US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/datasets/</a:t>
            </a:r>
            <a:r>
              <a:rPr lang="en-US" b="1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dhanushnarayananr</a:t>
            </a:r>
            <a:r>
              <a:rPr lang="en-US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/credit-card-fraud/data</a:t>
            </a:r>
          </a:p>
          <a:p>
            <a:endParaRPr lang="en-US" b="1" dirty="0">
              <a:solidFill>
                <a:srgbClr val="DEFF9A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lang="en-US" sz="2400" b="1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1,000,000 rows</a:t>
            </a:r>
            <a:r>
              <a:rPr lang="en-US" sz="2400" b="1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and</a:t>
            </a:r>
            <a:r>
              <a:rPr lang="en-US" sz="2400" b="1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8 columns</a:t>
            </a:r>
            <a:endParaRPr lang="en-US" sz="2400" b="1" dirty="0">
              <a:solidFill>
                <a:schemeClr val="bg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endParaRPr lang="en-US" sz="2100" b="1" dirty="0">
              <a:solidFill>
                <a:srgbClr val="DEFF9A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1EA9B3-1BFB-C402-7E9A-C3305A05B1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3861" y="390832"/>
            <a:ext cx="3001839" cy="1514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132;p15">
            <a:extLst>
              <a:ext uri="{FF2B5EF4-FFF2-40B4-BE49-F238E27FC236}">
                <a16:creationId xmlns:a16="http://schemas.microsoft.com/office/drawing/2014/main" id="{76D223B9-854F-7A61-2EB9-3E6D3E05BE46}"/>
              </a:ext>
            </a:extLst>
          </p:cNvPr>
          <p:cNvSpPr txBox="1"/>
          <p:nvPr/>
        </p:nvSpPr>
        <p:spPr>
          <a:xfrm>
            <a:off x="8763000" y="5181649"/>
            <a:ext cx="59003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07">
          <a:extLst>
            <a:ext uri="{FF2B5EF4-FFF2-40B4-BE49-F238E27FC236}">
              <a16:creationId xmlns:a16="http://schemas.microsoft.com/office/drawing/2014/main" id="{0DBF74E4-063A-0D61-EB90-51F6ED454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5">
            <a:extLst>
              <a:ext uri="{FF2B5EF4-FFF2-40B4-BE49-F238E27FC236}">
                <a16:creationId xmlns:a16="http://schemas.microsoft.com/office/drawing/2014/main" id="{977EAF42-692E-D31B-14D8-A8695D650930}"/>
              </a:ext>
            </a:extLst>
          </p:cNvPr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EDA</a:t>
            </a:r>
            <a:endParaRPr dirty="0"/>
          </a:p>
        </p:txBody>
      </p:sp>
      <p:sp>
        <p:nvSpPr>
          <p:cNvPr id="135" name="Google Shape;135;p15">
            <a:extLst>
              <a:ext uri="{FF2B5EF4-FFF2-40B4-BE49-F238E27FC236}">
                <a16:creationId xmlns:a16="http://schemas.microsoft.com/office/drawing/2014/main" id="{0B1C156D-B16C-CA2E-0C6C-341BF72FB744}"/>
              </a:ext>
            </a:extLst>
          </p:cNvPr>
          <p:cNvSpPr/>
          <p:nvPr/>
        </p:nvSpPr>
        <p:spPr>
          <a:xfrm>
            <a:off x="581025" y="581025"/>
            <a:ext cx="47625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 descr="A diagram of a distribution of a product&#10;&#10;AI-generated content may be incorrect.">
            <a:extLst>
              <a:ext uri="{FF2B5EF4-FFF2-40B4-BE49-F238E27FC236}">
                <a16:creationId xmlns:a16="http://schemas.microsoft.com/office/drawing/2014/main" id="{029FDE83-E99C-0487-FE91-E9382F960F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9717" y="1626507"/>
            <a:ext cx="6070160" cy="3604986"/>
          </a:xfrm>
          <a:prstGeom prst="rect">
            <a:avLst/>
          </a:prstGeom>
        </p:spPr>
      </p:pic>
      <p:pic>
        <p:nvPicPr>
          <p:cNvPr id="7" name="Picture 6" descr="A graph of a number of blue and yellow bars&#10;&#10;AI-generated content may be incorrect.">
            <a:extLst>
              <a:ext uri="{FF2B5EF4-FFF2-40B4-BE49-F238E27FC236}">
                <a16:creationId xmlns:a16="http://schemas.microsoft.com/office/drawing/2014/main" id="{96D02D58-BBC8-A0FE-A90F-8E4A741BFE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461" y="1675934"/>
            <a:ext cx="5643388" cy="350613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A8846C2-D652-07CC-FC37-4845C614B551}"/>
              </a:ext>
            </a:extLst>
          </p:cNvPr>
          <p:cNvSpPr txBox="1"/>
          <p:nvPr/>
        </p:nvSpPr>
        <p:spPr>
          <a:xfrm>
            <a:off x="581025" y="5376418"/>
            <a:ext cx="40916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chemeClr val="bg1"/>
                </a:solidFill>
              </a:rPr>
              <a:t>Chip Used: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0.068 fraud ratio</a:t>
            </a:r>
          </a:p>
          <a:p>
            <a:r>
              <a:rPr lang="en-US" b="1" u="sng" dirty="0">
                <a:solidFill>
                  <a:schemeClr val="bg1"/>
                </a:solidFill>
              </a:rPr>
              <a:t>Chip Not Used: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0.111 fraud ratio</a:t>
            </a:r>
          </a:p>
        </p:txBody>
      </p:sp>
    </p:spTree>
    <p:extLst>
      <p:ext uri="{BB962C8B-B14F-4D97-AF65-F5344CB8AC3E}">
        <p14:creationId xmlns:p14="http://schemas.microsoft.com/office/powerpoint/2010/main" val="3494163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80987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514475"/>
            <a:ext cx="5229225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6381750" y="1883271"/>
            <a:ext cx="5229225" cy="670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1. Cleaning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Removed duplicate entries to prevent data leakage and bias.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6381750" y="2791866"/>
            <a:ext cx="5229225" cy="679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2. Type Casting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Converted binary columns to int8 for memory efficiency.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6381750" y="3709987"/>
            <a:ext cx="5229225" cy="975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3. Stratified Split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Split data 80/20 while maintaining the ratio of fraud cases (Stratify = y).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6381750" y="4923383"/>
            <a:ext cx="5229225" cy="984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4. Scaling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Applied StandardScaler to continuous variables to normalize distance and price ratios.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Preprocessing Pipeline</a:t>
            </a:r>
            <a:endParaRPr/>
          </a:p>
        </p:txBody>
      </p:sp>
      <p:sp>
        <p:nvSpPr>
          <p:cNvPr id="147" name="Google Shape;147;p16"/>
          <p:cNvSpPr/>
          <p:nvPr/>
        </p:nvSpPr>
        <p:spPr>
          <a:xfrm>
            <a:off x="581025" y="581025"/>
            <a:ext cx="47625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4D12BD19-3D4D-BA3A-AD31-3F04AEE4EC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802" y="3188569"/>
            <a:ext cx="5306145" cy="2371725"/>
          </a:xfrm>
          <a:prstGeom prst="rect">
            <a:avLst/>
          </a:prstGeom>
        </p:spPr>
      </p:pic>
      <p:pic>
        <p:nvPicPr>
          <p:cNvPr id="5" name="Picture 4" descr="A black rectangular object with white text&#10;&#10;AI-generated content may be incorrect.">
            <a:extLst>
              <a:ext uri="{FF2B5EF4-FFF2-40B4-BE49-F238E27FC236}">
                <a16:creationId xmlns:a16="http://schemas.microsoft.com/office/drawing/2014/main" id="{66E731B6-CAE7-BDA0-6268-773AF76EB29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22935"/>
          <a:stretch>
            <a:fillRect/>
          </a:stretch>
        </p:blipFill>
        <p:spPr>
          <a:xfrm>
            <a:off x="581025" y="1850123"/>
            <a:ext cx="5219700" cy="9417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404550"/>
            <a:ext cx="5372101" cy="223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1404550"/>
            <a:ext cx="5372101" cy="223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201575"/>
            <a:ext cx="5372101" cy="243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38875" y="4201575"/>
            <a:ext cx="5372101" cy="243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76300" y="2879513"/>
            <a:ext cx="4781550" cy="756046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/>
        </p:nvSpPr>
        <p:spPr>
          <a:xfrm>
            <a:off x="876300" y="1565076"/>
            <a:ext cx="502062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Logistic Regression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876300" y="2079426"/>
            <a:ext cx="47815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 baseline linear model. Good for interpretability but assumes linear decision boundaries.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6534213" y="1920876"/>
            <a:ext cx="5020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Support Vector Machine (SVC)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6534150" y="2379301"/>
            <a:ext cx="47817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Attempts to find the optimal hyperplane separating fraud from non-fraud. Used with a linear kernel and balanced class weights.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876300" y="4978598"/>
            <a:ext cx="5020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Decision Tree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876300" y="5466898"/>
            <a:ext cx="47817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Captures non-linear patterns by splitting data based on feature values. Can be prone to overfitting.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6414613" y="4564248"/>
            <a:ext cx="5020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Random Forest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6534100" y="5309848"/>
            <a:ext cx="47817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An ensemble of Decision Trees. Reduces variance and typically provides the highest accuracy for this type of tabular data.</a:t>
            </a:r>
            <a:endParaRPr/>
          </a:p>
        </p:txBody>
      </p:sp>
      <p:pic>
        <p:nvPicPr>
          <p:cNvPr id="166" name="Google Shape;166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34150" y="1404551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76300" y="4432398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7"/>
          <p:cNvSpPr txBox="1"/>
          <p:nvPr/>
        </p:nvSpPr>
        <p:spPr>
          <a:xfrm>
            <a:off x="628650" y="393502"/>
            <a:ext cx="11381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Methodology: Models Selection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952625"/>
            <a:ext cx="5229225" cy="388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952625"/>
            <a:ext cx="5229225" cy="38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8"/>
          <p:cNvSpPr txBox="1"/>
          <p:nvPr/>
        </p:nvSpPr>
        <p:spPr>
          <a:xfrm>
            <a:off x="876300" y="2247900"/>
            <a:ext cx="487060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Logistic Regression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876300" y="2762250"/>
            <a:ext cx="46386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Performed reasonably well but struggled with complex fraud patterns.</a:t>
            </a:r>
            <a:endParaRPr/>
          </a:p>
        </p:txBody>
      </p:sp>
      <p:graphicFrame>
        <p:nvGraphicFramePr>
          <p:cNvPr id="178" name="Google Shape;178;p18"/>
          <p:cNvGraphicFramePr/>
          <p:nvPr/>
        </p:nvGraphicFramePr>
        <p:xfrm>
          <a:off x="876300" y="3562350"/>
          <a:ext cx="4638675" cy="1981200"/>
        </p:xfrm>
        <a:graphic>
          <a:graphicData uri="http://schemas.openxmlformats.org/drawingml/2006/table">
            <a:tbl>
              <a:tblPr firstRow="1" bandRow="1">
                <a:noFill/>
                <a:tableStyleId>{2C595D20-251C-4D22-B77C-D3A42B10F09D}</a:tableStyleId>
              </a:tblPr>
              <a:tblGrid>
                <a:gridCol w="291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Metric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Score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3333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Precision (Fraud)</a:t>
                      </a:r>
                      <a:endParaRPr>
                        <a:solidFill>
                          <a:srgbClr val="333333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3333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0.89</a:t>
                      </a:r>
                      <a:endParaRPr>
                        <a:solidFill>
                          <a:srgbClr val="333333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3333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Recall (Fraud)</a:t>
                      </a:r>
                      <a:endParaRPr>
                        <a:solidFill>
                          <a:srgbClr val="333333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3333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0.91</a:t>
                      </a:r>
                      <a:endParaRPr>
                        <a:solidFill>
                          <a:srgbClr val="333333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3333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F1-Score</a:t>
                      </a:r>
                      <a:endParaRPr>
                        <a:solidFill>
                          <a:srgbClr val="333333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3333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0.90</a:t>
                      </a:r>
                      <a:endParaRPr>
                        <a:solidFill>
                          <a:srgbClr val="333333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9" name="Google Shape;179;p18"/>
          <p:cNvSpPr txBox="1"/>
          <p:nvPr/>
        </p:nvSpPr>
        <p:spPr>
          <a:xfrm>
            <a:off x="6677025" y="2247900"/>
            <a:ext cx="487060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SVM (Linear Kernel)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6677025" y="2762250"/>
            <a:ext cx="4638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</a:t>
            </a:r>
            <a:endParaRPr/>
          </a:p>
        </p:txBody>
      </p:sp>
      <p:graphicFrame>
        <p:nvGraphicFramePr>
          <p:cNvPr id="181" name="Google Shape;181;p18"/>
          <p:cNvGraphicFramePr/>
          <p:nvPr/>
        </p:nvGraphicFramePr>
        <p:xfrm>
          <a:off x="6677025" y="3562350"/>
          <a:ext cx="4638675" cy="1981200"/>
        </p:xfrm>
        <a:graphic>
          <a:graphicData uri="http://schemas.openxmlformats.org/drawingml/2006/table">
            <a:tbl>
              <a:tblPr firstRow="1" bandRow="1">
                <a:noFill/>
                <a:tableStyleId>{2C595D20-251C-4D22-B77C-D3A42B10F09D}</a:tableStyleId>
              </a:tblPr>
              <a:tblGrid>
                <a:gridCol w="291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Metric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Score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Precision (Fraud)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Recall (Fraud)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F1-Score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2" name="Google Shape;182;p18"/>
          <p:cNvSpPr/>
          <p:nvPr/>
        </p:nvSpPr>
        <p:spPr>
          <a:xfrm>
            <a:off x="876300" y="4100512"/>
            <a:ext cx="291167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3787973" y="4100512"/>
            <a:ext cx="172700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/>
          <p:nvPr/>
        </p:nvSpPr>
        <p:spPr>
          <a:xfrm>
            <a:off x="6677025" y="4100512"/>
            <a:ext cx="291167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9588698" y="4100512"/>
            <a:ext cx="172700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876300" y="4576762"/>
            <a:ext cx="291167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3787973" y="4576762"/>
            <a:ext cx="172700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876300" y="5053012"/>
            <a:ext cx="291167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3787973" y="5053012"/>
            <a:ext cx="172700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876300" y="5529262"/>
            <a:ext cx="291167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3787973" y="5529262"/>
            <a:ext cx="172700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6677025" y="4576762"/>
            <a:ext cx="291167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9588698" y="4576762"/>
            <a:ext cx="172700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8"/>
          <p:cNvSpPr/>
          <p:nvPr/>
        </p:nvSpPr>
        <p:spPr>
          <a:xfrm>
            <a:off x="6677025" y="5053012"/>
            <a:ext cx="291167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8"/>
          <p:cNvSpPr/>
          <p:nvPr/>
        </p:nvSpPr>
        <p:spPr>
          <a:xfrm>
            <a:off x="9588698" y="5053012"/>
            <a:ext cx="172700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6677025" y="5529262"/>
            <a:ext cx="291167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9588698" y="5529262"/>
            <a:ext cx="172700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Results: Linear Models</a:t>
            </a:r>
            <a:endParaRPr/>
          </a:p>
        </p:txBody>
      </p:sp>
      <p:sp>
        <p:nvSpPr>
          <p:cNvPr id="199" name="Google Shape;199;p18"/>
          <p:cNvSpPr/>
          <p:nvPr/>
        </p:nvSpPr>
        <p:spPr>
          <a:xfrm>
            <a:off x="581025" y="581025"/>
            <a:ext cx="47625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514475"/>
            <a:ext cx="5229225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2262187"/>
            <a:ext cx="5229225" cy="185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310062"/>
            <a:ext cx="5229225" cy="216217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9"/>
          <p:cNvSpPr txBox="1"/>
          <p:nvPr/>
        </p:nvSpPr>
        <p:spPr>
          <a:xfrm>
            <a:off x="581025" y="1509712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Tree-based models significantly outperformed linear models on this dataset.</a:t>
            </a:r>
            <a:endParaRPr/>
          </a:p>
        </p:txBody>
      </p:sp>
      <p:pic>
        <p:nvPicPr>
          <p:cNvPr id="209" name="Google Shape;209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91275" y="1524000"/>
            <a:ext cx="5210175" cy="474345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9"/>
          <p:cNvSpPr txBox="1"/>
          <p:nvPr/>
        </p:nvSpPr>
        <p:spPr>
          <a:xfrm>
            <a:off x="876300" y="2557462"/>
            <a:ext cx="487060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Decision Tree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876300" y="3071812"/>
            <a:ext cx="46386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Near perfect accuracy, capturing the sharp thresholds in transaction rules.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876300" y="4605337"/>
            <a:ext cx="487060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Random Forest</a:t>
            </a:r>
            <a:endParaRPr/>
          </a:p>
        </p:txBody>
      </p:sp>
      <p:sp>
        <p:nvSpPr>
          <p:cNvPr id="213" name="Google Shape;213;p19"/>
          <p:cNvSpPr txBox="1"/>
          <p:nvPr/>
        </p:nvSpPr>
        <p:spPr>
          <a:xfrm>
            <a:off x="876300" y="5119687"/>
            <a:ext cx="46386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Achieved 100% precision and recall on the test set, effectively eliminating false positives and negatives.</a:t>
            </a:r>
            <a:endParaRPr/>
          </a:p>
        </p:txBody>
      </p:sp>
      <p:sp>
        <p:nvSpPr>
          <p:cNvPr id="214" name="Google Shape;214;p19"/>
          <p:cNvSpPr txBox="1"/>
          <p:nvPr/>
        </p:nvSpPr>
        <p:spPr>
          <a:xfrm>
            <a:off x="771525" y="385762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Results: Tree-Based Models</a:t>
            </a:r>
            <a:endParaRPr/>
          </a:p>
        </p:txBody>
      </p:sp>
      <p:sp>
        <p:nvSpPr>
          <p:cNvPr id="215" name="Google Shape;215;p19"/>
          <p:cNvSpPr/>
          <p:nvPr/>
        </p:nvSpPr>
        <p:spPr>
          <a:xfrm>
            <a:off x="581025" y="385762"/>
            <a:ext cx="47625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0784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0"/>
          <p:cNvSpPr txBox="1"/>
          <p:nvPr/>
        </p:nvSpPr>
        <p:spPr>
          <a:xfrm>
            <a:off x="6381750" y="2081212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Why it Matters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6381750" y="2595562"/>
            <a:ext cx="52292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In fraud detection, accuracy isn't enough. We must look at: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6381750" y="5262562"/>
            <a:ext cx="52292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The Random Forest model minimized both errors to near zero.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6381750" y="3052762"/>
            <a:ext cx="52292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6B6B"/>
                </a:solidFill>
                <a:latin typeface="Urbanist"/>
                <a:ea typeface="Urbanist"/>
                <a:cs typeface="Urbanist"/>
                <a:sym typeface="Urbanist"/>
              </a:rPr>
              <a:t>False Negatives (FN)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Fraudulent transactions labeled as safe.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1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Cost: Direct financial loss.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6381750" y="4157662"/>
            <a:ext cx="52292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CA5A5"/>
                </a:solidFill>
                <a:latin typeface="Urbanist"/>
                <a:ea typeface="Urbanist"/>
                <a:cs typeface="Urbanist"/>
                <a:sym typeface="Urbanist"/>
              </a:rPr>
              <a:t>False Positives (FP)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Safe transactions labeled as fraud.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1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Cost: Customer annoyance and blocked cards.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Confusion Matrix Analysis</a:t>
            </a:r>
            <a:endParaRPr/>
          </a:p>
        </p:txBody>
      </p:sp>
      <p:sp>
        <p:nvSpPr>
          <p:cNvPr id="228" name="Google Shape;228;p20"/>
          <p:cNvSpPr/>
          <p:nvPr/>
        </p:nvSpPr>
        <p:spPr>
          <a:xfrm>
            <a:off x="581025" y="581025"/>
            <a:ext cx="47625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 descr="A diagram of a logistic regression matrix&#10;&#10;AI-generated content may be incorrect.">
            <a:extLst>
              <a:ext uri="{FF2B5EF4-FFF2-40B4-BE49-F238E27FC236}">
                <a16:creationId xmlns:a16="http://schemas.microsoft.com/office/drawing/2014/main" id="{7AAA935F-316B-4AF5-F4C0-FD3368FC05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1514475"/>
            <a:ext cx="2668802" cy="2222367"/>
          </a:xfrm>
          <a:prstGeom prst="rect">
            <a:avLst/>
          </a:prstGeom>
        </p:spPr>
      </p:pic>
      <p:pic>
        <p:nvPicPr>
          <p:cNvPr id="5" name="Picture 4" descr="A chart with numbers and labels&#10;&#10;AI-generated content may be incorrect.">
            <a:extLst>
              <a:ext uri="{FF2B5EF4-FFF2-40B4-BE49-F238E27FC236}">
                <a16:creationId xmlns:a16="http://schemas.microsoft.com/office/drawing/2014/main" id="{CE77B54E-B83B-7962-2E7D-FEB03984D6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6596" y="1514474"/>
            <a:ext cx="2665855" cy="2222367"/>
          </a:xfrm>
          <a:prstGeom prst="rect">
            <a:avLst/>
          </a:prstGeom>
        </p:spPr>
      </p:pic>
      <p:pic>
        <p:nvPicPr>
          <p:cNvPr id="7" name="Picture 6" descr="A graph of decision tree and random forest contours&#10;&#10;AI-generated content may be incorrect.">
            <a:extLst>
              <a:ext uri="{FF2B5EF4-FFF2-40B4-BE49-F238E27FC236}">
                <a16:creationId xmlns:a16="http://schemas.microsoft.com/office/drawing/2014/main" id="{4364AFC5-194D-1745-18F5-ADDE4892E0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" y="3927298"/>
            <a:ext cx="5340843" cy="20533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514475"/>
            <a:ext cx="1102995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1"/>
          <p:cNvSpPr txBox="1"/>
          <p:nvPr/>
        </p:nvSpPr>
        <p:spPr>
          <a:xfrm>
            <a:off x="581025" y="2528887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Area Under the Curve (AUC) measures the ability of the classifier to distinguish between classes.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Showdown: AUC Scores</a:t>
            </a:r>
            <a:endParaRPr/>
          </a:p>
        </p:txBody>
      </p:sp>
      <p:sp>
        <p:nvSpPr>
          <p:cNvPr id="237" name="Google Shape;237;p21"/>
          <p:cNvSpPr/>
          <p:nvPr/>
        </p:nvSpPr>
        <p:spPr>
          <a:xfrm>
            <a:off x="581025" y="581025"/>
            <a:ext cx="47625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176462"/>
            <a:ext cx="3486150" cy="343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176462"/>
            <a:ext cx="3486150" cy="343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176462"/>
            <a:ext cx="3486150" cy="3438525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2"/>
          <p:cNvSpPr txBox="1"/>
          <p:nvPr/>
        </p:nvSpPr>
        <p:spPr>
          <a:xfrm>
            <a:off x="876300" y="3119437"/>
            <a:ext cx="304038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Random Forest Superiority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876300" y="3957637"/>
            <a:ext cx="28956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Random Forest was robust against the imbalance and handled the feature interactions (like Chip + Distance) perfectly.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4648200" y="3119437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Importance of Scaling</a:t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4648200" y="3633787"/>
            <a:ext cx="28956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StandardScaler was crucial for the Logistic Regression and SVC models to converge, though Tree models were less affected.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8420100" y="3119437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Stratification</a:t>
            </a:r>
            <a:endParaRPr/>
          </a:p>
        </p:txBody>
      </p:sp>
      <p:sp>
        <p:nvSpPr>
          <p:cNvPr id="251" name="Google Shape;251;p22"/>
          <p:cNvSpPr txBox="1"/>
          <p:nvPr/>
        </p:nvSpPr>
        <p:spPr>
          <a:xfrm>
            <a:off x="8420100" y="3633787"/>
            <a:ext cx="2895600" cy="122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Using stratify=df['fraud'] during the train-test split ensured our validation metrics were reliable and not skewed.</a:t>
            </a:r>
            <a:endParaRPr/>
          </a:p>
        </p:txBody>
      </p:sp>
      <p:pic>
        <p:nvPicPr>
          <p:cNvPr id="252" name="Google Shape;252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6300" y="2500312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8200" y="2500312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0100" y="2500312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2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Key Findings</a:t>
            </a:r>
            <a:endParaRPr/>
          </a:p>
        </p:txBody>
      </p:sp>
      <p:sp>
        <p:nvSpPr>
          <p:cNvPr id="256" name="Google Shape;256;p22"/>
          <p:cNvSpPr/>
          <p:nvPr/>
        </p:nvSpPr>
        <p:spPr>
          <a:xfrm>
            <a:off x="581025" y="581025"/>
            <a:ext cx="47625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116585"/>
            <a:ext cx="11029950" cy="97914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3"/>
          <p:cNvSpPr txBox="1"/>
          <p:nvPr/>
        </p:nvSpPr>
        <p:spPr>
          <a:xfrm>
            <a:off x="305276" y="1762273"/>
            <a:ext cx="11581447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Conclusion</a:t>
            </a:r>
            <a:endParaRPr/>
          </a:p>
        </p:txBody>
      </p:sp>
      <p:sp>
        <p:nvSpPr>
          <p:cNvPr id="264" name="Google Shape;264;p23"/>
          <p:cNvSpPr txBox="1"/>
          <p:nvPr/>
        </p:nvSpPr>
        <p:spPr>
          <a:xfrm>
            <a:off x="2286000" y="2638573"/>
            <a:ext cx="7620000" cy="1097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The Random Forest classifier is the recommended model for deployment. It offers the highest protection against financial loss (Recall) while maintaining a seamless user experience (Precision).</a:t>
            </a:r>
            <a:endParaRPr/>
          </a:p>
        </p:txBody>
      </p:sp>
      <p:sp>
        <p:nvSpPr>
          <p:cNvPr id="265" name="Google Shape;265;p23"/>
          <p:cNvSpPr txBox="1"/>
          <p:nvPr/>
        </p:nvSpPr>
        <p:spPr>
          <a:xfrm>
            <a:off x="581025" y="4678560"/>
            <a:ext cx="110299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888888"/>
                </a:solidFill>
                <a:latin typeface="Urbanist"/>
                <a:ea typeface="Urbanist"/>
                <a:cs typeface="Urbanist"/>
                <a:sym typeface="Urbanist"/>
              </a:rPr>
              <a:t>Next Steps: Hyperparameter tuning and real-time API integration.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4"/>
          <p:cNvSpPr txBox="1"/>
          <p:nvPr/>
        </p:nvSpPr>
        <p:spPr>
          <a:xfrm>
            <a:off x="305276" y="2538412"/>
            <a:ext cx="1158144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Q &amp; A</a:t>
            </a:r>
            <a:endParaRPr/>
          </a:p>
        </p:txBody>
      </p:sp>
      <p:sp>
        <p:nvSpPr>
          <p:cNvPr id="272" name="Google Shape;272;p24"/>
          <p:cNvSpPr txBox="1"/>
          <p:nvPr/>
        </p:nvSpPr>
        <p:spPr>
          <a:xfrm>
            <a:off x="581025" y="3871912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Thank you for your attention.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5"/>
          <p:cNvSpPr/>
          <p:nvPr/>
        </p:nvSpPr>
        <p:spPr>
          <a:xfrm>
            <a:off x="581025" y="3205162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5"/>
          <p:cNvSpPr/>
          <p:nvPr/>
        </p:nvSpPr>
        <p:spPr>
          <a:xfrm>
            <a:off x="512975" y="4095578"/>
            <a:ext cx="11030100" cy="96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9" name="Google Shape;279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248036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5"/>
          <p:cNvSpPr txBox="1"/>
          <p:nvPr/>
        </p:nvSpPr>
        <p:spPr>
          <a:xfrm>
            <a:off x="1676400" y="2374701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https://static.vecteezy.com/system/resources/previews/010/869/687/non_2x/credit-card-phishing-with-money-and-identity-number-secure-data-protection-and-attack-online-illustration-concept-scam-privacy-finance-and-fraud-password-steal-bank-information-on-web-vector.jpg</a:t>
            </a:r>
            <a:endParaRPr/>
          </a:p>
        </p:txBody>
      </p:sp>
      <p:sp>
        <p:nvSpPr>
          <p:cNvPr id="281" name="Google Shape;281;p25"/>
          <p:cNvSpPr txBox="1"/>
          <p:nvPr/>
        </p:nvSpPr>
        <p:spPr>
          <a:xfrm>
            <a:off x="1676400" y="2818507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www.vecteezy.com</a:t>
            </a:r>
            <a:endParaRPr/>
          </a:p>
        </p:txBody>
      </p:sp>
      <p:pic>
        <p:nvPicPr>
          <p:cNvPr id="282" name="Google Shape;282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48086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5"/>
          <p:cNvSpPr txBox="1"/>
          <p:nvPr/>
        </p:nvSpPr>
        <p:spPr>
          <a:xfrm>
            <a:off x="1608350" y="3405861"/>
            <a:ext cx="99345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https://</a:t>
            </a:r>
            <a:r>
              <a:rPr lang="en-US" sz="975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miro.medium.com</a:t>
            </a:r>
            <a:r>
              <a:rPr lang="en-US" sz="975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/1*i0o8mjFfCn-uD79-F1Cqkw.png</a:t>
            </a:r>
            <a:endParaRPr dirty="0"/>
          </a:p>
        </p:txBody>
      </p:sp>
      <p:sp>
        <p:nvSpPr>
          <p:cNvPr id="284" name="Google Shape;284;p25"/>
          <p:cNvSpPr txBox="1"/>
          <p:nvPr/>
        </p:nvSpPr>
        <p:spPr>
          <a:xfrm>
            <a:off x="1608350" y="3662004"/>
            <a:ext cx="9934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 dirty="0" err="1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medium.com</a:t>
            </a:r>
            <a:endParaRPr dirty="0"/>
          </a:p>
        </p:txBody>
      </p:sp>
      <p:sp>
        <p:nvSpPr>
          <p:cNvPr id="285" name="Google Shape;285;p25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  <p:sp>
        <p:nvSpPr>
          <p:cNvPr id="286" name="Google Shape;286;p25"/>
          <p:cNvSpPr/>
          <p:nvPr/>
        </p:nvSpPr>
        <p:spPr>
          <a:xfrm>
            <a:off x="581025" y="581025"/>
            <a:ext cx="47625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BE79849-38AE-355A-D13E-CDC331C277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393" y="4382113"/>
            <a:ext cx="813832" cy="410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283;p25">
            <a:extLst>
              <a:ext uri="{FF2B5EF4-FFF2-40B4-BE49-F238E27FC236}">
                <a16:creationId xmlns:a16="http://schemas.microsoft.com/office/drawing/2014/main" id="{00D51108-EFA5-7660-8B3A-CF1A71910D45}"/>
              </a:ext>
            </a:extLst>
          </p:cNvPr>
          <p:cNvSpPr txBox="1"/>
          <p:nvPr/>
        </p:nvSpPr>
        <p:spPr>
          <a:xfrm>
            <a:off x="1608350" y="4256244"/>
            <a:ext cx="99345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980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https://</a:t>
            </a:r>
            <a:r>
              <a:rPr lang="en-US" sz="980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www.kaggle.com</a:t>
            </a:r>
            <a:r>
              <a:rPr lang="en-US" sz="980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/datasets/</a:t>
            </a:r>
            <a:r>
              <a:rPr lang="en-US" sz="980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dhanushnarayananr</a:t>
            </a:r>
            <a:r>
              <a:rPr lang="en-US" sz="980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/credit-card-fraud/data</a:t>
            </a:r>
          </a:p>
        </p:txBody>
      </p:sp>
      <p:sp>
        <p:nvSpPr>
          <p:cNvPr id="5" name="Google Shape;284;p25">
            <a:extLst>
              <a:ext uri="{FF2B5EF4-FFF2-40B4-BE49-F238E27FC236}">
                <a16:creationId xmlns:a16="http://schemas.microsoft.com/office/drawing/2014/main" id="{FA97CEA3-752B-2D94-5E66-D21D23F0E52C}"/>
              </a:ext>
            </a:extLst>
          </p:cNvPr>
          <p:cNvSpPr txBox="1"/>
          <p:nvPr/>
        </p:nvSpPr>
        <p:spPr>
          <a:xfrm>
            <a:off x="1608350" y="4439634"/>
            <a:ext cx="993450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dirty="0" err="1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Kaggle.com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4120</TotalTime>
  <Words>731</Words>
  <Application>Microsoft Macintosh PowerPoint</Application>
  <PresentationFormat>Widescreen</PresentationFormat>
  <Paragraphs>102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Urbanist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Armin Parkhideh Soroosh</cp:lastModifiedBy>
  <cp:revision>8</cp:revision>
  <dcterms:modified xsi:type="dcterms:W3CDTF">2025-12-01T17:39:44Z</dcterms:modified>
</cp:coreProperties>
</file>