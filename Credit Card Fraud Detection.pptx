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59" r:id="rId1"/>
  </p:sldMasterIdLst>
  <p:notesMasterIdLst>
    <p:notesMasterId r:id="rId17"/>
  </p:notesMasterIdLst>
  <p:sldIdLst>
    <p:sldId id="256" r:id="rId2"/>
    <p:sldId id="257" r:id="rId3"/>
    <p:sldId id="258" r:id="rId4"/>
    <p:sldId id="269" r:id="rId5"/>
    <p:sldId id="259" r:id="rId6"/>
    <p:sldId id="260" r:id="rId7"/>
    <p:sldId id="261" r:id="rId8"/>
    <p:sldId id="262" r:id="rId9"/>
    <p:sldId id="263" r:id="rId10"/>
    <p:sldId id="264" r:id="rId11"/>
    <p:sldId id="270" r:id="rId12"/>
    <p:sldId id="265" r:id="rId13"/>
    <p:sldId id="266" r:id="rId14"/>
    <p:sldId id="267" r:id="rId15"/>
    <p:sldId id="268" r:id="rId16"/>
  </p:sldIdLst>
  <p:sldSz cx="12192000" cy="6858000"/>
  <p:notesSz cx="6858000" cy="9144000"/>
  <p:embeddedFontLst>
    <p:embeddedFont>
      <p:font typeface="Urbanist" panose="020B0604020202020204" charset="0"/>
      <p:regular r:id="rId18"/>
      <p:bold r:id="rId19"/>
      <p:italic r:id="rId20"/>
      <p:boldItalic r:id="rId21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000000"/>
          </p15:clr>
        </p15:guide>
        <p15:guide id="2" pos="2880">
          <p15:clr>
            <a:srgbClr val="000000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2C595D20-251C-4D22-B77C-D3A42B10F09D}">
  <a:tblStyle styleId="{2C595D20-251C-4D22-B77C-D3A42B10F09D}" styleName="Table_0">
    <a:wholeTbl>
      <a:tcTxStyle b="off" i="off">
        <a:font>
          <a:latin typeface="Calibri"/>
          <a:ea typeface="Calibri"/>
          <a:cs typeface="Calibri"/>
        </a:font>
        <a:schemeClr val="dk1"/>
      </a:tcTxStyle>
      <a:tcStyle>
        <a:tcBdr>
          <a:left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insideV>
        </a:tcBdr>
        <a:fill>
          <a:solidFill>
            <a:srgbClr val="E8ECF4"/>
          </a:solidFill>
        </a:fill>
      </a:tcStyle>
    </a:wholeTbl>
    <a:band1H>
      <a:tcTxStyle/>
      <a:tcStyle>
        <a:tcBdr/>
        <a:fill>
          <a:solidFill>
            <a:srgbClr val="CFD7E7"/>
          </a:solidFill>
        </a:fill>
      </a:tcStyle>
    </a:band1H>
    <a:band2H>
      <a:tcTxStyle/>
      <a:tcStyle>
        <a:tcBdr/>
      </a:tcStyle>
    </a:band2H>
    <a:band1V>
      <a:tcTxStyle/>
      <a:tcStyle>
        <a:tcBdr/>
        <a:fill>
          <a:solidFill>
            <a:srgbClr val="CFD7E7"/>
          </a:solidFill>
        </a:fill>
      </a:tcStyle>
    </a:band1V>
    <a:band2V>
      <a:tcTxStyle/>
      <a:tcStyle>
        <a:tcBdr/>
      </a:tcStyle>
    </a:band2V>
    <a:lastCol>
      <a:tcTxStyle b="on" i="off">
        <a:font>
          <a:latin typeface="Calibri"/>
          <a:ea typeface="Calibri"/>
          <a:cs typeface="Calibri"/>
        </a:font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 i="off">
        <a:font>
          <a:latin typeface="Calibri"/>
          <a:ea typeface="Calibri"/>
          <a:cs typeface="Calibri"/>
        </a:font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top>
            <a:ln w="381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top>
        </a:tcBdr>
        <a:fill>
          <a:solidFill>
            <a:schemeClr val="accent1"/>
          </a:solidFill>
        </a:fill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bottom>
            <a:ln w="381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bottom>
        </a:tcBdr>
        <a:fill>
          <a:solidFill>
            <a:schemeClr val="accent1"/>
          </a:solidFill>
        </a:fill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9302"/>
    <p:restoredTop sz="94648"/>
  </p:normalViewPr>
  <p:slideViewPr>
    <p:cSldViewPr snapToGrid="0">
      <p:cViewPr>
        <p:scale>
          <a:sx n="50" d="100"/>
          <a:sy n="50" d="100"/>
        </p:scale>
        <p:origin x="1046" y="931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font" Target="fonts/font1.fntdata"/><Relationship Id="rId3" Type="http://schemas.openxmlformats.org/officeDocument/2006/relationships/slide" Target="slides/slide2.xml"/><Relationship Id="rId21" Type="http://schemas.openxmlformats.org/officeDocument/2006/relationships/font" Target="fonts/font4.fnt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notesMaster" Target="notesMasters/notesMaster1.xml"/><Relationship Id="rId25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font" Target="fonts/font3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font" Target="fonts/font2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2" name="Google Shape;82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p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1" name="Google Shape;91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6" name="Google Shape;106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4">
          <a:extLst>
            <a:ext uri="{FF2B5EF4-FFF2-40B4-BE49-F238E27FC236}">
              <a16:creationId xmlns:a16="http://schemas.microsoft.com/office/drawing/2014/main" id="{780E0094-8251-E148-1649-B827146E9E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3:notes">
            <a:extLst>
              <a:ext uri="{FF2B5EF4-FFF2-40B4-BE49-F238E27FC236}">
                <a16:creationId xmlns:a16="http://schemas.microsoft.com/office/drawing/2014/main" id="{694821E0-4E68-F892-DF60-CAF78E5AA5E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6" name="Google Shape;106;p3:notes">
            <a:extLst>
              <a:ext uri="{FF2B5EF4-FFF2-40B4-BE49-F238E27FC236}">
                <a16:creationId xmlns:a16="http://schemas.microsoft.com/office/drawing/2014/main" id="{5E294512-13A4-9EC8-5576-27E75D473FE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58639805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8" name="Google Shape;138;p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p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0" name="Google Shape;150;p5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1" name="Google Shape;171;p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2" name="Google Shape;202;p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8" name="Google Shape;218;p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0" name="Google Shape;230;p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1" name="Google Shape;231;p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9" name="Google Shape;239;p1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0" name="Google Shape;240;p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1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59" name="Google Shape;259;p1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1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68" name="Google Shape;268;p12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4" name="Google Shape;274;p1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75" name="Google Shape;275;p1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2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" name="Google Shape;13;p2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4" name="Google Shape;14;p2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3"/>
          <p:cNvSpPr txBox="1"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7" name="Google Shape;17;p3"/>
          <p:cNvSpPr txBox="1"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>
              <a:spcBef>
                <a:spcPts val="640"/>
              </a:spcBef>
              <a:spcAft>
                <a:spcPts val="0"/>
              </a:spcAft>
              <a:buClr>
                <a:srgbClr val="888888"/>
              </a:buClr>
              <a:buSzPts val="3200"/>
              <a:buNone/>
              <a:defRPr>
                <a:solidFill>
                  <a:srgbClr val="888888"/>
                </a:solidFill>
              </a:defRPr>
            </a:lvl1pPr>
            <a:lvl2pPr lvl="1" algn="ctr">
              <a:spcBef>
                <a:spcPts val="560"/>
              </a:spcBef>
              <a:spcAft>
                <a:spcPts val="0"/>
              </a:spcAft>
              <a:buClr>
                <a:srgbClr val="888888"/>
              </a:buClr>
              <a:buSzPts val="2800"/>
              <a:buNone/>
              <a:defRPr>
                <a:solidFill>
                  <a:srgbClr val="888888"/>
                </a:solidFill>
              </a:defRPr>
            </a:lvl2pPr>
            <a:lvl3pPr lvl="2" algn="ctr">
              <a:spcBef>
                <a:spcPts val="48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>
                <a:solidFill>
                  <a:srgbClr val="888888"/>
                </a:solidFill>
              </a:defRPr>
            </a:lvl3pPr>
            <a:lvl4pPr lvl="3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4pPr>
            <a:lvl5pPr lvl="4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5pPr>
            <a:lvl6pPr lvl="5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6pPr>
            <a:lvl7pPr lvl="6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7pPr>
            <a:lvl8pPr lvl="7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8pPr>
            <a:lvl9pPr lvl="8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18" name="Google Shape;18;p3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9" name="Google Shape;19;p3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0" name="Google Shape;20;p3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 type="obj">
  <p:cSld name="OBJECT"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4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3" name="Google Shape;23;p4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4" name="Google Shape;24;p4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5" name="Google Shape;25;p4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6" name="Google Shape;26;p4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5"/>
          <p:cNvSpPr txBox="1"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Calibri"/>
              <a:buNone/>
              <a:defRPr sz="4000" b="1" cap="none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9" name="Google Shape;29;p5"/>
          <p:cNvSpPr txBox="1"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1pPr>
            <a:lvl2pPr marL="914400" lvl="1" indent="-228600" algn="l"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marL="1371600" lvl="2" indent="-228600" algn="l"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marL="1828800" lvl="3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marL="2286000" lvl="4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marL="2743200" lvl="5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marL="3200400" lvl="6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marL="3657600" lvl="7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marL="4114800" lvl="8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30" name="Google Shape;30;p5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1" name="Google Shape;31;p5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2" name="Google Shape;32;p5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ntent" type="twoObj">
  <p:cSld name="TWO_OBJECTS">
    <p:spTree>
      <p:nvGrpSpPr>
        <p:cNvPr id="1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6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5" name="Google Shape;35;p6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marL="914400" lvl="1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marL="1371600" lvl="2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>
            <a:endParaRPr/>
          </a:p>
        </p:txBody>
      </p:sp>
      <p:sp>
        <p:nvSpPr>
          <p:cNvPr id="36" name="Google Shape;36;p6"/>
          <p:cNvSpPr txBox="1">
            <a:spLocks noGrp="1"/>
          </p:cNvSpPr>
          <p:nvPr>
            <p:ph type="body" idx="2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marL="914400" lvl="1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marL="1371600" lvl="2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>
            <a:endParaRPr/>
          </a:p>
        </p:txBody>
      </p:sp>
      <p:sp>
        <p:nvSpPr>
          <p:cNvPr id="37" name="Google Shape;37;p6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8" name="Google Shape;38;p6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9" name="Google Shape;39;p6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 type="twoTxTwoObj">
  <p:cSld name="TWO_OBJECTS_WITH_TEXT">
    <p:spTree>
      <p:nvGrpSpPr>
        <p:cNvPr id="1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7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2" name="Google Shape;42;p7"/>
          <p:cNvSpPr txBox="1"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3" name="Google Shape;43;p7"/>
          <p:cNvSpPr txBox="1">
            <a:spLocks noGrp="1"/>
          </p:cNvSpPr>
          <p:nvPr>
            <p:ph type="body" idx="2"/>
          </p:nvPr>
        </p:nvSpPr>
        <p:spPr>
          <a:xfrm>
            <a:off x="457200" y="2174875"/>
            <a:ext cx="4040188" cy="3951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marL="914400" lvl="1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lvl="3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marL="2286000" lvl="4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marL="2743200" lvl="5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marL="3200400" lvl="6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marL="3657600" lvl="7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marL="4114800" lvl="8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>
            <a:endParaRPr/>
          </a:p>
        </p:txBody>
      </p:sp>
      <p:sp>
        <p:nvSpPr>
          <p:cNvPr id="44" name="Google Shape;44;p7"/>
          <p:cNvSpPr txBox="1">
            <a:spLocks noGrp="1"/>
          </p:cNvSpPr>
          <p:nvPr>
            <p:ph type="body" idx="3"/>
          </p:nvPr>
        </p:nvSpPr>
        <p:spPr>
          <a:xfrm>
            <a:off x="4645025" y="1535113"/>
            <a:ext cx="4041775" cy="639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5" name="Google Shape;45;p7"/>
          <p:cNvSpPr txBox="1">
            <a:spLocks noGrp="1"/>
          </p:cNvSpPr>
          <p:nvPr>
            <p:ph type="body" idx="4"/>
          </p:nvPr>
        </p:nvSpPr>
        <p:spPr>
          <a:xfrm>
            <a:off x="4645025" y="2174875"/>
            <a:ext cx="4041775" cy="3951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marL="914400" lvl="1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lvl="3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marL="2286000" lvl="4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marL="2743200" lvl="5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marL="3200400" lvl="6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marL="3657600" lvl="7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marL="4114800" lvl="8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>
            <a:endParaRPr/>
          </a:p>
        </p:txBody>
      </p:sp>
      <p:sp>
        <p:nvSpPr>
          <p:cNvPr id="46" name="Google Shape;46;p7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7" name="Google Shape;47;p7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8" name="Google Shape;48;p7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8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1" name="Google Shape;51;p8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2" name="Google Shape;52;p8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3" name="Google Shape;53;p8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with Caption" type="objTx">
  <p:cSld name="OBJECT_WITH_CAPTION_TEXT"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9"/>
          <p:cNvSpPr txBox="1"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sz="2000" b="1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6" name="Google Shape;56;p9"/>
          <p:cNvSpPr txBox="1">
            <a:spLocks noGrp="1"/>
          </p:cNvSpPr>
          <p:nvPr>
            <p:ph type="body" idx="1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3180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marL="914400" lvl="1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–"/>
              <a:defRPr sz="2800"/>
            </a:lvl2pPr>
            <a:lvl3pPr marL="1371600" lvl="2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marL="1828800" lvl="3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4pPr>
            <a:lvl5pPr marL="2286000" lvl="4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»"/>
              <a:defRPr sz="2000"/>
            </a:lvl5pPr>
            <a:lvl6pPr marL="2743200" lvl="5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marL="3200400" lvl="6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marL="3657600" lvl="7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marL="4114800" lvl="8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>
            <a:endParaRPr/>
          </a:p>
        </p:txBody>
      </p:sp>
      <p:sp>
        <p:nvSpPr>
          <p:cNvPr id="57" name="Google Shape;57;p9"/>
          <p:cNvSpPr txBox="1">
            <a:spLocks noGrp="1"/>
          </p:cNvSpPr>
          <p:nvPr>
            <p:ph type="body" idx="2"/>
          </p:nvPr>
        </p:nvSpPr>
        <p:spPr>
          <a:xfrm>
            <a:off x="457200" y="1435100"/>
            <a:ext cx="3008313" cy="46910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marL="914400" lvl="1" indent="-2286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marL="1371600" lvl="2" indent="-228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marL="1828800" lvl="3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marL="2286000" lvl="4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marL="2743200" lvl="5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marL="3200400" lvl="6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marL="3657600" lvl="7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marL="4114800" lvl="8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>
            <a:endParaRPr/>
          </a:p>
        </p:txBody>
      </p:sp>
      <p:sp>
        <p:nvSpPr>
          <p:cNvPr id="58" name="Google Shape;58;p9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9" name="Google Shape;59;p9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0" name="Google Shape;60;p9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icture with Caption" type="picTx">
  <p:cSld name="PICTURE_WITH_CAPTION_TEXT">
    <p:spTree>
      <p:nvGrpSpPr>
        <p:cNvPr id="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0"/>
          <p:cNvSpPr txBox="1"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sz="2000" b="1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3" name="Google Shape;63;p10"/>
          <p:cNvSpPr>
            <a:spLocks noGrp="1"/>
          </p:cNvSpPr>
          <p:nvPr>
            <p:ph type="pic" idx="2"/>
          </p:nvPr>
        </p:nvSpPr>
        <p:spPr>
          <a:xfrm>
            <a:off x="1792288" y="612775"/>
            <a:ext cx="5486400" cy="4114800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Google Shape;64;p10"/>
          <p:cNvSpPr txBox="1">
            <a:spLocks noGrp="1"/>
          </p:cNvSpPr>
          <p:nvPr>
            <p:ph type="body" idx="1"/>
          </p:nvPr>
        </p:nvSpPr>
        <p:spPr>
          <a:xfrm>
            <a:off x="1792288" y="5367338"/>
            <a:ext cx="5486400" cy="8048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marL="914400" lvl="1" indent="-2286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marL="1371600" lvl="2" indent="-228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marL="1828800" lvl="3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marL="2286000" lvl="4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marL="2743200" lvl="5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marL="3200400" lvl="6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marL="3657600" lvl="7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marL="4114800" lvl="8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>
            <a:endParaRPr/>
          </a:p>
        </p:txBody>
      </p:sp>
      <p:sp>
        <p:nvSpPr>
          <p:cNvPr id="65" name="Google Shape;65;p10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6" name="Google Shape;66;p10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7" name="Google Shape;67;p10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Vertical Text" type="vertTx">
  <p:cSld name="VERTICAL_TEXT">
    <p:spTree>
      <p:nvGrpSpPr>
        <p:cNvPr id="1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11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11"/>
          <p:cNvSpPr txBox="1">
            <a:spLocks noGrp="1"/>
          </p:cNvSpPr>
          <p:nvPr>
            <p:ph type="body" idx="1"/>
          </p:nvPr>
        </p:nvSpPr>
        <p:spPr>
          <a:xfrm rot="5400000">
            <a:off x="2309019" y="-251618"/>
            <a:ext cx="4525963" cy="822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1" name="Google Shape;71;p11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2" name="Google Shape;72;p11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3" name="Google Shape;73;p11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Vertical Title and Text" type="vertTitleAndTx">
  <p:cSld name="VERTICAL_TITLE_AND_VERTICAL_TEXT">
    <p:spTree>
      <p:nvGrpSpPr>
        <p:cNvPr id="1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2"/>
          <p:cNvSpPr txBox="1">
            <a:spLocks noGrp="1"/>
          </p:cNvSpPr>
          <p:nvPr>
            <p:ph type="title"/>
          </p:nvPr>
        </p:nvSpPr>
        <p:spPr>
          <a:xfrm rot="5400000">
            <a:off x="4732338" y="2171701"/>
            <a:ext cx="5851525" cy="205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6" name="Google Shape;76;p12"/>
          <p:cNvSpPr txBox="1">
            <a:spLocks noGrp="1"/>
          </p:cNvSpPr>
          <p:nvPr>
            <p:ph type="body" idx="1"/>
          </p:nvPr>
        </p:nvSpPr>
        <p:spPr>
          <a:xfrm rot="5400000">
            <a:off x="541338" y="190500"/>
            <a:ext cx="5851525" cy="6019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7" name="Google Shape;77;p12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8" name="Google Shape;78;p12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9" name="Google Shape;79;p12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431800" algn="l" rtl="0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sz="3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406400" algn="l" rtl="0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81000" algn="l" rtl="0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9" name="Google Shape;9;p1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0" name="Google Shape;10;p1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png"/><Relationship Id="rId3" Type="http://schemas.openxmlformats.org/officeDocument/2006/relationships/image" Target="../media/image1.png"/><Relationship Id="rId7" Type="http://schemas.openxmlformats.org/officeDocument/2006/relationships/image" Target="../media/image8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7.png"/><Relationship Id="rId5" Type="http://schemas.openxmlformats.org/officeDocument/2006/relationships/image" Target="../media/image6.png"/><Relationship Id="rId10" Type="http://schemas.openxmlformats.org/officeDocument/2006/relationships/image" Target="../media/image11.jpeg"/><Relationship Id="rId4" Type="http://schemas.openxmlformats.org/officeDocument/2006/relationships/image" Target="../media/image5.png"/><Relationship Id="rId9" Type="http://schemas.openxmlformats.org/officeDocument/2006/relationships/image" Target="../media/image10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3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6.png"/><Relationship Id="rId5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21.png"/><Relationship Id="rId3" Type="http://schemas.openxmlformats.org/officeDocument/2006/relationships/image" Target="../media/image1.png"/><Relationship Id="rId7" Type="http://schemas.openxmlformats.org/officeDocument/2006/relationships/image" Target="../media/image20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9.png"/><Relationship Id="rId5" Type="http://schemas.openxmlformats.org/officeDocument/2006/relationships/image" Target="../media/image18.png"/><Relationship Id="rId10" Type="http://schemas.openxmlformats.org/officeDocument/2006/relationships/image" Target="../media/image23.png"/><Relationship Id="rId4" Type="http://schemas.openxmlformats.org/officeDocument/2006/relationships/image" Target="../media/image17.png"/><Relationship Id="rId9" Type="http://schemas.openxmlformats.org/officeDocument/2006/relationships/image" Target="../media/image22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5.png"/><Relationship Id="rId4" Type="http://schemas.openxmlformats.org/officeDocument/2006/relationships/image" Target="../media/image24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29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8.png"/><Relationship Id="rId5" Type="http://schemas.openxmlformats.org/officeDocument/2006/relationships/image" Target="../media/image27.png"/><Relationship Id="rId4" Type="http://schemas.openxmlformats.org/officeDocument/2006/relationships/image" Target="../media/image26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2.png"/><Relationship Id="rId5" Type="http://schemas.openxmlformats.org/officeDocument/2006/relationships/image" Target="../media/image31.png"/><Relationship Id="rId4" Type="http://schemas.openxmlformats.org/officeDocument/2006/relationships/image" Target="../media/image30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3.pn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39.png"/><Relationship Id="rId3" Type="http://schemas.openxmlformats.org/officeDocument/2006/relationships/image" Target="../media/image1.png"/><Relationship Id="rId7" Type="http://schemas.openxmlformats.org/officeDocument/2006/relationships/image" Target="../media/image38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7.png"/><Relationship Id="rId5" Type="http://schemas.openxmlformats.org/officeDocument/2006/relationships/image" Target="../media/image36.png"/><Relationship Id="rId4" Type="http://schemas.openxmlformats.org/officeDocument/2006/relationships/image" Target="../media/image35.png"/><Relationship Id="rId9" Type="http://schemas.openxmlformats.org/officeDocument/2006/relationships/image" Target="../media/image40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1.jpeg"/><Relationship Id="rId4" Type="http://schemas.openxmlformats.org/officeDocument/2006/relationships/image" Target="../media/image4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4" name="Google Shape;84;p13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85" name="Google Shape;85;p13"/>
          <p:cNvSpPr txBox="1"/>
          <p:nvPr/>
        </p:nvSpPr>
        <p:spPr>
          <a:xfrm>
            <a:off x="771525" y="1472803"/>
            <a:ext cx="4790598" cy="226278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400" b="1" i="0" u="none" strike="noStrike" cap="none">
                <a:solidFill>
                  <a:srgbClr val="FFFFFF"/>
                </a:solidFill>
                <a:latin typeface="Urbanist"/>
                <a:ea typeface="Urbanist"/>
                <a:cs typeface="Urbanist"/>
                <a:sym typeface="Urbanist"/>
              </a:rPr>
              <a:t>Credit Card</a:t>
            </a:r>
            <a:br>
              <a:rPr lang="en-US"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5400" b="1" i="0" u="none" strike="noStrike" cap="none">
                <a:solidFill>
                  <a:srgbClr val="DEFF9A"/>
                </a:solidFill>
                <a:latin typeface="Urbanist"/>
                <a:ea typeface="Urbanist"/>
                <a:cs typeface="Urbanist"/>
                <a:sym typeface="Urbanist"/>
              </a:rPr>
              <a:t>Fraud Detection</a:t>
            </a:r>
            <a:endParaRPr/>
          </a:p>
        </p:txBody>
      </p:sp>
      <p:sp>
        <p:nvSpPr>
          <p:cNvPr id="86" name="Google Shape;86;p13"/>
          <p:cNvSpPr txBox="1"/>
          <p:nvPr/>
        </p:nvSpPr>
        <p:spPr>
          <a:xfrm>
            <a:off x="771525" y="3926085"/>
            <a:ext cx="45624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7" name="Google Shape;87;p13"/>
          <p:cNvSpPr txBox="1"/>
          <p:nvPr/>
        </p:nvSpPr>
        <p:spPr>
          <a:xfrm>
            <a:off x="771525" y="4754760"/>
            <a:ext cx="4562400" cy="3952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lvl="0">
              <a:lnSpc>
                <a:spcPct val="106666"/>
              </a:lnSpc>
            </a:pPr>
            <a:r>
              <a:rPr lang="en-US" sz="1200" b="0" i="0" u="none" strike="noStrike" cap="none" dirty="0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Project by: </a:t>
            </a:r>
            <a:r>
              <a:rPr lang="en-US" sz="1200" dirty="0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Adam Burke, Armin Soroosh, Luca Guerra</a:t>
            </a:r>
            <a:br>
              <a:rPr lang="en-US" sz="18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1200" b="0" i="0" u="none" strike="noStrike" cap="none" dirty="0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 </a:t>
            </a:r>
            <a:r>
              <a:rPr lang="en-US" sz="1200" dirty="0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Introduction to Data Mining DATS 6103</a:t>
            </a:r>
            <a:endParaRPr dirty="0"/>
          </a:p>
        </p:txBody>
      </p:sp>
      <p:pic>
        <p:nvPicPr>
          <p:cNvPr id="88" name="Google Shape;88;p13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6096000" y="9525"/>
            <a:ext cx="6086475" cy="68389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3" name="Google Shape;93;p14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94" name="Google Shape;94;p14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6381750" y="2643187"/>
            <a:ext cx="5229225" cy="2505075"/>
          </a:xfrm>
          <a:prstGeom prst="rect">
            <a:avLst/>
          </a:prstGeom>
          <a:noFill/>
          <a:ln>
            <a:noFill/>
          </a:ln>
        </p:spPr>
      </p:pic>
      <p:sp>
        <p:nvSpPr>
          <p:cNvPr id="95" name="Google Shape;95;p14"/>
          <p:cNvSpPr txBox="1"/>
          <p:nvPr/>
        </p:nvSpPr>
        <p:spPr>
          <a:xfrm>
            <a:off x="581025" y="2324100"/>
            <a:ext cx="5490686" cy="3238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1" i="0" u="none" strike="noStrike" cap="none" dirty="0">
                <a:solidFill>
                  <a:srgbClr val="DEFF9A"/>
                </a:solidFill>
                <a:latin typeface="Urbanist"/>
                <a:ea typeface="Urbanist"/>
                <a:cs typeface="Urbanist"/>
                <a:sym typeface="Urbanist"/>
              </a:rPr>
              <a:t>Financial Impact</a:t>
            </a:r>
            <a:endParaRPr dirty="0"/>
          </a:p>
        </p:txBody>
      </p:sp>
      <p:sp>
        <p:nvSpPr>
          <p:cNvPr id="96" name="Google Shape;96;p14"/>
          <p:cNvSpPr txBox="1"/>
          <p:nvPr/>
        </p:nvSpPr>
        <p:spPr>
          <a:xfrm>
            <a:off x="604837" y="2727938"/>
            <a:ext cx="5229225" cy="9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 dirty="0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Credit card fraud incurs billions in losses annually for banks and consumers. Traditional manual detection is too slow for modern transaction volumes.</a:t>
            </a:r>
            <a:endParaRPr dirty="0"/>
          </a:p>
        </p:txBody>
      </p:sp>
      <p:sp>
        <p:nvSpPr>
          <p:cNvPr id="97" name="Google Shape;97;p14"/>
          <p:cNvSpPr txBox="1"/>
          <p:nvPr/>
        </p:nvSpPr>
        <p:spPr>
          <a:xfrm>
            <a:off x="581025" y="4006237"/>
            <a:ext cx="5490686" cy="3238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1" i="0" u="none" strike="noStrike" cap="none" dirty="0">
                <a:solidFill>
                  <a:srgbClr val="DEFF9A"/>
                </a:solidFill>
                <a:latin typeface="Urbanist"/>
                <a:ea typeface="Urbanist"/>
                <a:cs typeface="Urbanist"/>
                <a:sym typeface="Urbanist"/>
              </a:rPr>
              <a:t>The Objective</a:t>
            </a:r>
            <a:endParaRPr dirty="0"/>
          </a:p>
        </p:txBody>
      </p:sp>
      <p:sp>
        <p:nvSpPr>
          <p:cNvPr id="98" name="Google Shape;98;p14"/>
          <p:cNvSpPr txBox="1"/>
          <p:nvPr/>
        </p:nvSpPr>
        <p:spPr>
          <a:xfrm>
            <a:off x="581025" y="4410075"/>
            <a:ext cx="5229300" cy="96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To develop an automated machine learning </a:t>
            </a:r>
            <a:r>
              <a:rPr lang="en-US" sz="1500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model </a:t>
            </a:r>
            <a:r>
              <a:rPr lang="en-US" sz="1500" b="0" i="0" u="none" strike="noStrike" cap="none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capable of detecting fraudulent transactions with high accuracy, specifically focusing on minimizing </a:t>
            </a:r>
            <a:r>
              <a:rPr lang="en-US" sz="1500" b="1" i="0" u="none" strike="noStrike" cap="none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False Negatives</a:t>
            </a:r>
            <a:r>
              <a:rPr lang="en-US" sz="1500" b="0" i="0" u="none" strike="noStrike" cap="none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.</a:t>
            </a:r>
            <a:endParaRPr/>
          </a:p>
        </p:txBody>
      </p:sp>
      <p:sp>
        <p:nvSpPr>
          <p:cNvPr id="99" name="Google Shape;99;p14"/>
          <p:cNvSpPr txBox="1"/>
          <p:nvPr/>
        </p:nvSpPr>
        <p:spPr>
          <a:xfrm>
            <a:off x="6561058" y="3586162"/>
            <a:ext cx="4870608" cy="3238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1" i="0" u="none" strike="noStrike" cap="none">
                <a:solidFill>
                  <a:srgbClr val="DEFF9A"/>
                </a:solidFill>
                <a:latin typeface="Urbanist"/>
                <a:ea typeface="Urbanist"/>
                <a:cs typeface="Urbanist"/>
                <a:sym typeface="Urbanist"/>
              </a:rPr>
              <a:t>Security First</a:t>
            </a:r>
            <a:endParaRPr/>
          </a:p>
        </p:txBody>
      </p:sp>
      <p:sp>
        <p:nvSpPr>
          <p:cNvPr id="100" name="Google Shape;100;p14"/>
          <p:cNvSpPr txBox="1"/>
          <p:nvPr/>
        </p:nvSpPr>
        <p:spPr>
          <a:xfrm>
            <a:off x="6677025" y="4100512"/>
            <a:ext cx="4638675" cy="60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Our goal is to identify the "needle in the haystack" without blocking legitimate users.</a:t>
            </a:r>
            <a:endParaRPr/>
          </a:p>
        </p:txBody>
      </p:sp>
      <p:pic>
        <p:nvPicPr>
          <p:cNvPr id="101" name="Google Shape;101;p14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8805862" y="2967037"/>
            <a:ext cx="381000" cy="381000"/>
          </a:xfrm>
          <a:prstGeom prst="rect">
            <a:avLst/>
          </a:prstGeom>
          <a:noFill/>
          <a:ln>
            <a:noFill/>
          </a:ln>
        </p:spPr>
      </p:pic>
      <p:sp>
        <p:nvSpPr>
          <p:cNvPr id="102" name="Google Shape;102;p14"/>
          <p:cNvSpPr txBox="1"/>
          <p:nvPr/>
        </p:nvSpPr>
        <p:spPr>
          <a:xfrm>
            <a:off x="771525" y="581025"/>
            <a:ext cx="11381422" cy="552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i="0" u="none" strike="noStrike" cap="none">
                <a:solidFill>
                  <a:srgbClr val="FFFFFF"/>
                </a:solidFill>
                <a:latin typeface="Urbanist"/>
                <a:ea typeface="Urbanist"/>
                <a:cs typeface="Urbanist"/>
                <a:sym typeface="Urbanist"/>
              </a:rPr>
              <a:t>The Problem</a:t>
            </a:r>
            <a:endParaRPr/>
          </a:p>
        </p:txBody>
      </p:sp>
      <p:sp>
        <p:nvSpPr>
          <p:cNvPr id="103" name="Google Shape;103;p14"/>
          <p:cNvSpPr/>
          <p:nvPr/>
        </p:nvSpPr>
        <p:spPr>
          <a:xfrm>
            <a:off x="581025" y="581025"/>
            <a:ext cx="47625" cy="552450"/>
          </a:xfrm>
          <a:prstGeom prst="rect">
            <a:avLst/>
          </a:prstGeom>
          <a:solidFill>
            <a:srgbClr val="DEFF9A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8" name="Google Shape;108;p15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09" name="Google Shape;109;p15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81025" y="2057400"/>
            <a:ext cx="3486150" cy="36766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4352925" y="2057400"/>
            <a:ext cx="3486150" cy="36766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11" name="Google Shape;111;p15" descr="image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8124825" y="2057400"/>
            <a:ext cx="3486150" cy="3676650"/>
          </a:xfrm>
          <a:prstGeom prst="rect">
            <a:avLst/>
          </a:prstGeom>
          <a:noFill/>
          <a:ln>
            <a:noFill/>
          </a:ln>
        </p:spPr>
      </p:pic>
      <p:sp>
        <p:nvSpPr>
          <p:cNvPr id="112" name="Google Shape;112;p15"/>
          <p:cNvSpPr txBox="1"/>
          <p:nvPr/>
        </p:nvSpPr>
        <p:spPr>
          <a:xfrm>
            <a:off x="876300" y="3000375"/>
            <a:ext cx="3040380" cy="3238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1" i="0" u="none" strike="noStrike" cap="none">
                <a:solidFill>
                  <a:srgbClr val="DEFF9A"/>
                </a:solidFill>
                <a:latin typeface="Urbanist"/>
                <a:ea typeface="Urbanist"/>
                <a:cs typeface="Urbanist"/>
                <a:sym typeface="Urbanist"/>
              </a:rPr>
              <a:t>Source</a:t>
            </a:r>
            <a:endParaRPr/>
          </a:p>
        </p:txBody>
      </p:sp>
      <p:sp>
        <p:nvSpPr>
          <p:cNvPr id="113" name="Google Shape;113;p15"/>
          <p:cNvSpPr txBox="1"/>
          <p:nvPr/>
        </p:nvSpPr>
        <p:spPr>
          <a:xfrm>
            <a:off x="876300" y="3514725"/>
            <a:ext cx="2895600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card_transdata.csv</a:t>
            </a:r>
            <a:endParaRPr/>
          </a:p>
        </p:txBody>
      </p:sp>
      <p:sp>
        <p:nvSpPr>
          <p:cNvPr id="114" name="Google Shape;114;p15"/>
          <p:cNvSpPr txBox="1"/>
          <p:nvPr/>
        </p:nvSpPr>
        <p:spPr>
          <a:xfrm>
            <a:off x="876300" y="4010025"/>
            <a:ext cx="2895600" cy="14773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 dirty="0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A dataset from Kaggle containing transaction features and a binary target variable. Each record is a transaction. </a:t>
            </a:r>
            <a:endParaRPr dirty="0"/>
          </a:p>
        </p:txBody>
      </p:sp>
      <p:sp>
        <p:nvSpPr>
          <p:cNvPr id="115" name="Google Shape;115;p15"/>
          <p:cNvSpPr txBox="1"/>
          <p:nvPr/>
        </p:nvSpPr>
        <p:spPr>
          <a:xfrm>
            <a:off x="4648200" y="3000375"/>
            <a:ext cx="3040380" cy="3238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1" i="0" u="none" strike="noStrike" cap="none">
                <a:solidFill>
                  <a:srgbClr val="DEFF9A"/>
                </a:solidFill>
                <a:latin typeface="Urbanist"/>
                <a:ea typeface="Urbanist"/>
                <a:cs typeface="Urbanist"/>
                <a:sym typeface="Urbanist"/>
              </a:rPr>
              <a:t>Continuous Features</a:t>
            </a:r>
            <a:endParaRPr/>
          </a:p>
        </p:txBody>
      </p:sp>
      <p:sp>
        <p:nvSpPr>
          <p:cNvPr id="116" name="Google Shape;116;p15"/>
          <p:cNvSpPr txBox="1"/>
          <p:nvPr/>
        </p:nvSpPr>
        <p:spPr>
          <a:xfrm>
            <a:off x="8420100" y="3000375"/>
            <a:ext cx="3040380" cy="3238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1" i="0" u="none" strike="noStrike" cap="none">
                <a:solidFill>
                  <a:srgbClr val="DEFF9A"/>
                </a:solidFill>
                <a:latin typeface="Urbanist"/>
                <a:ea typeface="Urbanist"/>
                <a:cs typeface="Urbanist"/>
                <a:sym typeface="Urbanist"/>
              </a:rPr>
              <a:t>Binary Features</a:t>
            </a:r>
            <a:endParaRPr/>
          </a:p>
        </p:txBody>
      </p:sp>
      <p:pic>
        <p:nvPicPr>
          <p:cNvPr id="117" name="Google Shape;117;p15" descr="image.png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876300" y="2381250"/>
            <a:ext cx="333375" cy="381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18" name="Google Shape;118;p15" descr="image.png"/>
          <p:cNvPicPr preferRelativeResize="0"/>
          <p:nvPr/>
        </p:nvPicPr>
        <p:blipFill rotWithShape="1">
          <a:blip r:embed="rId8">
            <a:alphaModFix/>
          </a:blip>
          <a:srcRect/>
          <a:stretch/>
        </p:blipFill>
        <p:spPr>
          <a:xfrm>
            <a:off x="4648200" y="2381250"/>
            <a:ext cx="381000" cy="381000"/>
          </a:xfrm>
          <a:prstGeom prst="rect">
            <a:avLst/>
          </a:prstGeom>
          <a:noFill/>
          <a:ln>
            <a:noFill/>
          </a:ln>
        </p:spPr>
      </p:pic>
      <p:sp>
        <p:nvSpPr>
          <p:cNvPr id="119" name="Google Shape;119;p15"/>
          <p:cNvSpPr txBox="1"/>
          <p:nvPr/>
        </p:nvSpPr>
        <p:spPr>
          <a:xfrm>
            <a:off x="4991100" y="3476625"/>
            <a:ext cx="38100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•</a:t>
            </a:r>
            <a:endParaRPr/>
          </a:p>
        </p:txBody>
      </p:sp>
      <p:sp>
        <p:nvSpPr>
          <p:cNvPr id="120" name="Google Shape;120;p15"/>
          <p:cNvSpPr txBox="1"/>
          <p:nvPr/>
        </p:nvSpPr>
        <p:spPr>
          <a:xfrm>
            <a:off x="5029200" y="3476625"/>
            <a:ext cx="2514600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810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Distance from home</a:t>
            </a:r>
            <a:endParaRPr/>
          </a:p>
        </p:txBody>
      </p:sp>
      <p:sp>
        <p:nvSpPr>
          <p:cNvPr id="121" name="Google Shape;121;p15"/>
          <p:cNvSpPr txBox="1"/>
          <p:nvPr/>
        </p:nvSpPr>
        <p:spPr>
          <a:xfrm>
            <a:off x="4991100" y="3924300"/>
            <a:ext cx="38100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•</a:t>
            </a:r>
            <a:endParaRPr/>
          </a:p>
        </p:txBody>
      </p:sp>
      <p:sp>
        <p:nvSpPr>
          <p:cNvPr id="122" name="Google Shape;122;p15"/>
          <p:cNvSpPr txBox="1"/>
          <p:nvPr/>
        </p:nvSpPr>
        <p:spPr>
          <a:xfrm>
            <a:off x="5029200" y="3924300"/>
            <a:ext cx="2514600" cy="60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810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Distance from last transaction</a:t>
            </a:r>
            <a:endParaRPr/>
          </a:p>
        </p:txBody>
      </p:sp>
      <p:sp>
        <p:nvSpPr>
          <p:cNvPr id="123" name="Google Shape;123;p15"/>
          <p:cNvSpPr txBox="1"/>
          <p:nvPr/>
        </p:nvSpPr>
        <p:spPr>
          <a:xfrm>
            <a:off x="4991100" y="4676775"/>
            <a:ext cx="38100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•</a:t>
            </a:r>
            <a:endParaRPr/>
          </a:p>
        </p:txBody>
      </p:sp>
      <p:sp>
        <p:nvSpPr>
          <p:cNvPr id="124" name="Google Shape;124;p15"/>
          <p:cNvSpPr txBox="1"/>
          <p:nvPr/>
        </p:nvSpPr>
        <p:spPr>
          <a:xfrm>
            <a:off x="5029200" y="4676775"/>
            <a:ext cx="2514600" cy="60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810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Ratio to median purchase price</a:t>
            </a:r>
            <a:endParaRPr/>
          </a:p>
        </p:txBody>
      </p:sp>
      <p:pic>
        <p:nvPicPr>
          <p:cNvPr id="125" name="Google Shape;125;p15" descr="image.png"/>
          <p:cNvPicPr preferRelativeResize="0"/>
          <p:nvPr/>
        </p:nvPicPr>
        <p:blipFill rotWithShape="1">
          <a:blip r:embed="rId9">
            <a:alphaModFix/>
          </a:blip>
          <a:srcRect/>
          <a:stretch/>
        </p:blipFill>
        <p:spPr>
          <a:xfrm>
            <a:off x="8420100" y="2381250"/>
            <a:ext cx="428625" cy="381000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5"/>
          <p:cNvSpPr txBox="1"/>
          <p:nvPr/>
        </p:nvSpPr>
        <p:spPr>
          <a:xfrm>
            <a:off x="8763000" y="3476625"/>
            <a:ext cx="38100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•</a:t>
            </a:r>
            <a:endParaRPr/>
          </a:p>
        </p:txBody>
      </p:sp>
      <p:sp>
        <p:nvSpPr>
          <p:cNvPr id="127" name="Google Shape;127;p15"/>
          <p:cNvSpPr txBox="1"/>
          <p:nvPr/>
        </p:nvSpPr>
        <p:spPr>
          <a:xfrm>
            <a:off x="8801100" y="3451225"/>
            <a:ext cx="2514600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810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 dirty="0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Repeat Retailer</a:t>
            </a:r>
            <a:endParaRPr dirty="0"/>
          </a:p>
        </p:txBody>
      </p:sp>
      <p:sp>
        <p:nvSpPr>
          <p:cNvPr id="128" name="Google Shape;128;p15"/>
          <p:cNvSpPr txBox="1"/>
          <p:nvPr/>
        </p:nvSpPr>
        <p:spPr>
          <a:xfrm>
            <a:off x="8763000" y="3924300"/>
            <a:ext cx="38100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•</a:t>
            </a:r>
            <a:endParaRPr/>
          </a:p>
        </p:txBody>
      </p:sp>
      <p:sp>
        <p:nvSpPr>
          <p:cNvPr id="129" name="Google Shape;129;p15"/>
          <p:cNvSpPr txBox="1"/>
          <p:nvPr/>
        </p:nvSpPr>
        <p:spPr>
          <a:xfrm>
            <a:off x="8801100" y="3883025"/>
            <a:ext cx="2514600" cy="7386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810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 dirty="0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If Transaction Used Chip / PIN</a:t>
            </a:r>
            <a:endParaRPr dirty="0"/>
          </a:p>
        </p:txBody>
      </p:sp>
      <p:sp>
        <p:nvSpPr>
          <p:cNvPr id="130" name="Google Shape;130;p15"/>
          <p:cNvSpPr txBox="1"/>
          <p:nvPr/>
        </p:nvSpPr>
        <p:spPr>
          <a:xfrm>
            <a:off x="8763000" y="5161434"/>
            <a:ext cx="285750" cy="2308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 dirty="0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•</a:t>
            </a:r>
            <a:endParaRPr dirty="0"/>
          </a:p>
        </p:txBody>
      </p:sp>
      <p:sp>
        <p:nvSpPr>
          <p:cNvPr id="131" name="Google Shape;131;p15"/>
          <p:cNvSpPr txBox="1"/>
          <p:nvPr/>
        </p:nvSpPr>
        <p:spPr>
          <a:xfrm>
            <a:off x="8801100" y="4729044"/>
            <a:ext cx="2514600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810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 dirty="0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Online Order</a:t>
            </a:r>
            <a:endParaRPr dirty="0"/>
          </a:p>
        </p:txBody>
      </p:sp>
      <p:sp>
        <p:nvSpPr>
          <p:cNvPr id="132" name="Google Shape;132;p15"/>
          <p:cNvSpPr txBox="1"/>
          <p:nvPr/>
        </p:nvSpPr>
        <p:spPr>
          <a:xfrm>
            <a:off x="8763000" y="4819650"/>
            <a:ext cx="38100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•</a:t>
            </a:r>
            <a:endParaRPr/>
          </a:p>
        </p:txBody>
      </p:sp>
      <p:sp>
        <p:nvSpPr>
          <p:cNvPr id="133" name="Google Shape;133;p15"/>
          <p:cNvSpPr txBox="1"/>
          <p:nvPr/>
        </p:nvSpPr>
        <p:spPr>
          <a:xfrm>
            <a:off x="8782050" y="5067221"/>
            <a:ext cx="2514600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810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 dirty="0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Target: Fraud (0/1)</a:t>
            </a:r>
            <a:endParaRPr dirty="0"/>
          </a:p>
        </p:txBody>
      </p:sp>
      <p:sp>
        <p:nvSpPr>
          <p:cNvPr id="134" name="Google Shape;134;p15"/>
          <p:cNvSpPr txBox="1"/>
          <p:nvPr/>
        </p:nvSpPr>
        <p:spPr>
          <a:xfrm>
            <a:off x="771525" y="581025"/>
            <a:ext cx="11381422" cy="552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i="0" u="none" strike="noStrike" cap="none">
                <a:solidFill>
                  <a:srgbClr val="FFFFFF"/>
                </a:solidFill>
                <a:latin typeface="Urbanist"/>
                <a:ea typeface="Urbanist"/>
                <a:cs typeface="Urbanist"/>
                <a:sym typeface="Urbanist"/>
              </a:rPr>
              <a:t>Dataset Overview</a:t>
            </a:r>
            <a:endParaRPr/>
          </a:p>
        </p:txBody>
      </p:sp>
      <p:sp>
        <p:nvSpPr>
          <p:cNvPr id="135" name="Google Shape;135;p15"/>
          <p:cNvSpPr/>
          <p:nvPr/>
        </p:nvSpPr>
        <p:spPr>
          <a:xfrm>
            <a:off x="581025" y="581025"/>
            <a:ext cx="47625" cy="552450"/>
          </a:xfrm>
          <a:prstGeom prst="rect">
            <a:avLst/>
          </a:prstGeom>
          <a:solidFill>
            <a:srgbClr val="DEFF9A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" name="Google Shape;95;p14">
            <a:extLst>
              <a:ext uri="{FF2B5EF4-FFF2-40B4-BE49-F238E27FC236}">
                <a16:creationId xmlns:a16="http://schemas.microsoft.com/office/drawing/2014/main" id="{D90A4C3E-70DA-A551-EC32-1B849B207FBD}"/>
              </a:ext>
            </a:extLst>
          </p:cNvPr>
          <p:cNvSpPr txBox="1"/>
          <p:nvPr/>
        </p:nvSpPr>
        <p:spPr>
          <a:xfrm>
            <a:off x="581025" y="1199585"/>
            <a:ext cx="8633313" cy="13388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r>
              <a:rPr lang="en-US" b="1" dirty="0">
                <a:solidFill>
                  <a:srgbClr val="DEFF9A"/>
                </a:solidFill>
                <a:latin typeface="Urbanist"/>
                <a:ea typeface="Urbanist"/>
                <a:cs typeface="Urbanist"/>
                <a:sym typeface="Urbanist"/>
              </a:rPr>
              <a:t>https://</a:t>
            </a:r>
            <a:r>
              <a:rPr lang="en-US" b="1" dirty="0" err="1">
                <a:solidFill>
                  <a:srgbClr val="DEFF9A"/>
                </a:solidFill>
                <a:latin typeface="Urbanist"/>
                <a:ea typeface="Urbanist"/>
                <a:cs typeface="Urbanist"/>
                <a:sym typeface="Urbanist"/>
              </a:rPr>
              <a:t>www.kaggle.com</a:t>
            </a:r>
            <a:r>
              <a:rPr lang="en-US" b="1" dirty="0">
                <a:solidFill>
                  <a:srgbClr val="DEFF9A"/>
                </a:solidFill>
                <a:latin typeface="Urbanist"/>
                <a:ea typeface="Urbanist"/>
                <a:cs typeface="Urbanist"/>
                <a:sym typeface="Urbanist"/>
              </a:rPr>
              <a:t>/datasets/</a:t>
            </a:r>
            <a:r>
              <a:rPr lang="en-US" b="1" dirty="0" err="1">
                <a:solidFill>
                  <a:srgbClr val="DEFF9A"/>
                </a:solidFill>
                <a:latin typeface="Urbanist"/>
                <a:ea typeface="Urbanist"/>
                <a:cs typeface="Urbanist"/>
                <a:sym typeface="Urbanist"/>
              </a:rPr>
              <a:t>dhanushnarayananr</a:t>
            </a:r>
            <a:r>
              <a:rPr lang="en-US" b="1" dirty="0">
                <a:solidFill>
                  <a:srgbClr val="DEFF9A"/>
                </a:solidFill>
                <a:latin typeface="Urbanist"/>
                <a:ea typeface="Urbanist"/>
                <a:cs typeface="Urbanist"/>
                <a:sym typeface="Urbanist"/>
              </a:rPr>
              <a:t>/credit-card-fraud/data</a:t>
            </a:r>
          </a:p>
          <a:p>
            <a:endParaRPr lang="en-US" b="1" dirty="0">
              <a:solidFill>
                <a:srgbClr val="DEFF9A"/>
              </a:solidFill>
              <a:latin typeface="Urbanist"/>
              <a:ea typeface="Urbanist"/>
              <a:cs typeface="Urbanist"/>
              <a:sym typeface="Urbanist"/>
            </a:endParaRPr>
          </a:p>
          <a:p>
            <a:pPr marR="0" lvl="0" algn="l" rtl="0">
              <a:spcBef>
                <a:spcPts val="0"/>
              </a:spcBef>
              <a:spcAft>
                <a:spcPts val="0"/>
              </a:spcAft>
            </a:pPr>
            <a:r>
              <a:rPr lang="en-US" sz="2400" b="1" i="0" u="none" strike="noStrike" cap="none" dirty="0">
                <a:solidFill>
                  <a:schemeClr val="bg1"/>
                </a:solidFill>
                <a:latin typeface="Urbanist"/>
                <a:ea typeface="Urbanist"/>
                <a:cs typeface="Urbanist"/>
                <a:sym typeface="Urbanist"/>
              </a:rPr>
              <a:t>1,000,000 rows</a:t>
            </a:r>
            <a:r>
              <a:rPr lang="en-US" sz="2400" b="1" dirty="0">
                <a:solidFill>
                  <a:schemeClr val="bg1"/>
                </a:solidFill>
                <a:latin typeface="Urbanist"/>
                <a:ea typeface="Urbanist"/>
                <a:cs typeface="Urbanist"/>
                <a:sym typeface="Urbanist"/>
              </a:rPr>
              <a:t> and</a:t>
            </a:r>
            <a:r>
              <a:rPr lang="en-US" sz="2400" b="1" i="0" u="none" strike="noStrike" cap="none" dirty="0">
                <a:solidFill>
                  <a:schemeClr val="bg1"/>
                </a:solidFill>
                <a:latin typeface="Urbanist"/>
                <a:ea typeface="Urbanist"/>
                <a:cs typeface="Urbanist"/>
                <a:sym typeface="Urbanist"/>
              </a:rPr>
              <a:t> 8 columns</a:t>
            </a:r>
            <a:endParaRPr lang="en-US" sz="2400" b="1" dirty="0">
              <a:solidFill>
                <a:schemeClr val="bg1"/>
              </a:solidFill>
              <a:latin typeface="Urbanist"/>
              <a:ea typeface="Urbanist"/>
              <a:cs typeface="Urbanist"/>
              <a:sym typeface="Urbanist"/>
            </a:endParaRPr>
          </a:p>
          <a:p>
            <a:pPr marR="0" lvl="0" algn="l" rtl="0">
              <a:spcBef>
                <a:spcPts val="0"/>
              </a:spcBef>
              <a:spcAft>
                <a:spcPts val="0"/>
              </a:spcAft>
            </a:pPr>
            <a:endParaRPr lang="en-US" sz="2100" b="1" dirty="0">
              <a:solidFill>
                <a:srgbClr val="DEFF9A"/>
              </a:solidFill>
              <a:latin typeface="Urbanist"/>
              <a:ea typeface="Urbanist"/>
              <a:cs typeface="Urbanist"/>
              <a:sym typeface="Urbanist"/>
            </a:endParaRPr>
          </a:p>
          <a:p>
            <a:pPr marL="285750" marR="0" lvl="0" indent="-285750" algn="l" rtl="0">
              <a:spcBef>
                <a:spcPts val="0"/>
              </a:spcBef>
              <a:spcAft>
                <a:spcPts val="0"/>
              </a:spcAft>
              <a:buFontTx/>
              <a:buChar char="-"/>
            </a:pPr>
            <a:endParaRPr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3A1EA9B3-1BFB-C402-7E9A-C3305A05B12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313861" y="390832"/>
            <a:ext cx="3001839" cy="151416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Shape 107">
          <a:extLst>
            <a:ext uri="{FF2B5EF4-FFF2-40B4-BE49-F238E27FC236}">
              <a16:creationId xmlns:a16="http://schemas.microsoft.com/office/drawing/2014/main" id="{0DBF74E4-063A-0D61-EB90-51F6ED454E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5">
            <a:extLst>
              <a:ext uri="{FF2B5EF4-FFF2-40B4-BE49-F238E27FC236}">
                <a16:creationId xmlns:a16="http://schemas.microsoft.com/office/drawing/2014/main" id="{977EAF42-692E-D31B-14D8-A8695D650930}"/>
              </a:ext>
            </a:extLst>
          </p:cNvPr>
          <p:cNvSpPr txBox="1"/>
          <p:nvPr/>
        </p:nvSpPr>
        <p:spPr>
          <a:xfrm>
            <a:off x="771525" y="581025"/>
            <a:ext cx="11381422" cy="552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i="0" u="none" strike="noStrike" cap="none" dirty="0">
                <a:solidFill>
                  <a:srgbClr val="FFFFFF"/>
                </a:solidFill>
                <a:latin typeface="Urbanist"/>
                <a:ea typeface="Urbanist"/>
                <a:cs typeface="Urbanist"/>
                <a:sym typeface="Urbanist"/>
              </a:rPr>
              <a:t>EDA</a:t>
            </a:r>
            <a:endParaRPr dirty="0"/>
          </a:p>
        </p:txBody>
      </p:sp>
      <p:sp>
        <p:nvSpPr>
          <p:cNvPr id="135" name="Google Shape;135;p15">
            <a:extLst>
              <a:ext uri="{FF2B5EF4-FFF2-40B4-BE49-F238E27FC236}">
                <a16:creationId xmlns:a16="http://schemas.microsoft.com/office/drawing/2014/main" id="{0B1C156D-B16C-CA2E-0C6C-341BF72FB744}"/>
              </a:ext>
            </a:extLst>
          </p:cNvPr>
          <p:cNvSpPr/>
          <p:nvPr/>
        </p:nvSpPr>
        <p:spPr>
          <a:xfrm>
            <a:off x="581025" y="581025"/>
            <a:ext cx="47625" cy="552450"/>
          </a:xfrm>
          <a:prstGeom prst="rect">
            <a:avLst/>
          </a:prstGeom>
          <a:solidFill>
            <a:srgbClr val="DEFF9A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5" name="Picture 4" descr="A diagram of a distribution of a product&#10;&#10;AI-generated content may be incorrect.">
            <a:extLst>
              <a:ext uri="{FF2B5EF4-FFF2-40B4-BE49-F238E27FC236}">
                <a16:creationId xmlns:a16="http://schemas.microsoft.com/office/drawing/2014/main" id="{029FDE83-E99C-0487-FE91-E9382F960F8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69717" y="1626507"/>
            <a:ext cx="6070160" cy="3604986"/>
          </a:xfrm>
          <a:prstGeom prst="rect">
            <a:avLst/>
          </a:prstGeom>
        </p:spPr>
      </p:pic>
      <p:pic>
        <p:nvPicPr>
          <p:cNvPr id="7" name="Picture 6" descr="A graph of a number of blue and yellow bars&#10;&#10;AI-generated content may be incorrect.">
            <a:extLst>
              <a:ext uri="{FF2B5EF4-FFF2-40B4-BE49-F238E27FC236}">
                <a16:creationId xmlns:a16="http://schemas.microsoft.com/office/drawing/2014/main" id="{96D02D58-BBC8-A0FE-A90F-8E4A741BFEF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4461" y="1675934"/>
            <a:ext cx="5643388" cy="35061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9416362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0" name="Google Shape;140;p16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280987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41" name="Google Shape;141;p16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81025" y="1514475"/>
            <a:ext cx="5229225" cy="4762500"/>
          </a:xfrm>
          <a:prstGeom prst="rect">
            <a:avLst/>
          </a:prstGeom>
          <a:noFill/>
          <a:ln>
            <a:noFill/>
          </a:ln>
        </p:spPr>
      </p:pic>
      <p:sp>
        <p:nvSpPr>
          <p:cNvPr id="142" name="Google Shape;142;p16"/>
          <p:cNvSpPr txBox="1"/>
          <p:nvPr/>
        </p:nvSpPr>
        <p:spPr>
          <a:xfrm>
            <a:off x="6381750" y="1883271"/>
            <a:ext cx="5229225" cy="67047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3333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DEFF9A"/>
                </a:solidFill>
                <a:latin typeface="Urbanist"/>
                <a:ea typeface="Urbanist"/>
                <a:cs typeface="Urbanist"/>
                <a:sym typeface="Urbanist"/>
              </a:rPr>
              <a:t>1. Cleaning</a:t>
            </a:r>
            <a:br>
              <a:rPr lang="en-US"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1500" b="0" i="0" u="none" strike="noStrike" cap="none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 Removed duplicate entries to prevent data leakage and bias.</a:t>
            </a:r>
            <a:endParaRPr/>
          </a:p>
        </p:txBody>
      </p:sp>
      <p:sp>
        <p:nvSpPr>
          <p:cNvPr id="143" name="Google Shape;143;p16"/>
          <p:cNvSpPr txBox="1"/>
          <p:nvPr/>
        </p:nvSpPr>
        <p:spPr>
          <a:xfrm>
            <a:off x="6381750" y="2669219"/>
            <a:ext cx="5229225" cy="9210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3333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 dirty="0">
                <a:solidFill>
                  <a:srgbClr val="DEFF9A"/>
                </a:solidFill>
                <a:latin typeface="Urbanist"/>
                <a:ea typeface="Urbanist"/>
                <a:cs typeface="Urbanist"/>
                <a:sym typeface="Urbanist"/>
              </a:rPr>
              <a:t>2. Fraud Correlation</a:t>
            </a:r>
            <a:br>
              <a:rPr lang="en-US" sz="18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1500" b="0" i="0" u="none" strike="noStrike" cap="none" dirty="0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 Checked which features have the strongest correlation to the target variable. </a:t>
            </a:r>
            <a:endParaRPr dirty="0"/>
          </a:p>
        </p:txBody>
      </p:sp>
      <p:sp>
        <p:nvSpPr>
          <p:cNvPr id="144" name="Google Shape;144;p16"/>
          <p:cNvSpPr txBox="1"/>
          <p:nvPr/>
        </p:nvSpPr>
        <p:spPr>
          <a:xfrm>
            <a:off x="6381750" y="3709987"/>
            <a:ext cx="5229225" cy="97527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3333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 dirty="0">
                <a:solidFill>
                  <a:srgbClr val="DEFF9A"/>
                </a:solidFill>
                <a:latin typeface="Urbanist"/>
                <a:ea typeface="Urbanist"/>
                <a:cs typeface="Urbanist"/>
                <a:sym typeface="Urbanist"/>
              </a:rPr>
              <a:t>3. Stratified Split</a:t>
            </a:r>
            <a:br>
              <a:rPr lang="en-US" sz="18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1500" b="0" i="0" u="none" strike="noStrike" cap="none" dirty="0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 </a:t>
            </a:r>
            <a:r>
              <a:rPr lang="en-US" sz="1500" b="0" i="0" u="none" strike="noStrike" cap="none" dirty="0" err="1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Split</a:t>
            </a:r>
            <a:r>
              <a:rPr lang="en-US" sz="1500" b="0" i="0" u="none" strike="noStrike" cap="none" dirty="0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 data 80/20 while maintaining the ratio of fraud cases (Stratify = y).</a:t>
            </a:r>
            <a:endParaRPr dirty="0"/>
          </a:p>
        </p:txBody>
      </p:sp>
      <p:sp>
        <p:nvSpPr>
          <p:cNvPr id="145" name="Google Shape;145;p16"/>
          <p:cNvSpPr txBox="1"/>
          <p:nvPr/>
        </p:nvSpPr>
        <p:spPr>
          <a:xfrm>
            <a:off x="6381750" y="4923383"/>
            <a:ext cx="5229225" cy="9847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3333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 dirty="0">
                <a:solidFill>
                  <a:srgbClr val="DEFF9A"/>
                </a:solidFill>
                <a:latin typeface="Urbanist"/>
                <a:ea typeface="Urbanist"/>
                <a:cs typeface="Urbanist"/>
                <a:sym typeface="Urbanist"/>
              </a:rPr>
              <a:t>4. Scaling</a:t>
            </a:r>
            <a:br>
              <a:rPr lang="en-US" sz="18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1500" b="0" i="0" u="none" strike="noStrike" cap="none" dirty="0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 Applied </a:t>
            </a:r>
            <a:r>
              <a:rPr lang="en-US" sz="1500" b="0" i="0" u="none" strike="noStrike" cap="none" dirty="0" err="1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StandardScaler</a:t>
            </a:r>
            <a:r>
              <a:rPr lang="en-US" sz="1500" b="0" i="0" u="none" strike="noStrike" cap="none" dirty="0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 to continuous variables to normalize distance and price ratios.</a:t>
            </a:r>
            <a:endParaRPr dirty="0"/>
          </a:p>
        </p:txBody>
      </p:sp>
      <p:sp>
        <p:nvSpPr>
          <p:cNvPr id="146" name="Google Shape;146;p16"/>
          <p:cNvSpPr txBox="1"/>
          <p:nvPr/>
        </p:nvSpPr>
        <p:spPr>
          <a:xfrm>
            <a:off x="771525" y="581025"/>
            <a:ext cx="11381422" cy="552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i="0" u="none" strike="noStrike" cap="none">
                <a:solidFill>
                  <a:srgbClr val="FFFFFF"/>
                </a:solidFill>
                <a:latin typeface="Urbanist"/>
                <a:ea typeface="Urbanist"/>
                <a:cs typeface="Urbanist"/>
                <a:sym typeface="Urbanist"/>
              </a:rPr>
              <a:t>Preprocessing Pipeline</a:t>
            </a:r>
            <a:endParaRPr/>
          </a:p>
        </p:txBody>
      </p:sp>
      <p:sp>
        <p:nvSpPr>
          <p:cNvPr id="147" name="Google Shape;147;p16"/>
          <p:cNvSpPr/>
          <p:nvPr/>
        </p:nvSpPr>
        <p:spPr>
          <a:xfrm>
            <a:off x="581025" y="581025"/>
            <a:ext cx="47625" cy="552450"/>
          </a:xfrm>
          <a:prstGeom prst="rect">
            <a:avLst/>
          </a:prstGeom>
          <a:solidFill>
            <a:srgbClr val="DEFF9A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3" name="Picture 2" descr="A screen shot of a computer program&#10;&#10;AI-generated content may be incorrect.">
            <a:extLst>
              <a:ext uri="{FF2B5EF4-FFF2-40B4-BE49-F238E27FC236}">
                <a16:creationId xmlns:a16="http://schemas.microsoft.com/office/drawing/2014/main" id="{4D12BD19-3D4D-BA3A-AD31-3F04AEE4ECA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37802" y="3188569"/>
            <a:ext cx="5306145" cy="2371725"/>
          </a:xfrm>
          <a:prstGeom prst="rect">
            <a:avLst/>
          </a:prstGeom>
        </p:spPr>
      </p:pic>
      <p:pic>
        <p:nvPicPr>
          <p:cNvPr id="5" name="Picture 4" descr="A black rectangular object with white text&#10;&#10;AI-generated content may be incorrect.">
            <a:extLst>
              <a:ext uri="{FF2B5EF4-FFF2-40B4-BE49-F238E27FC236}">
                <a16:creationId xmlns:a16="http://schemas.microsoft.com/office/drawing/2014/main" id="{66E731B6-CAE7-BDA0-6268-773AF76EB29C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r="22935"/>
          <a:stretch>
            <a:fillRect/>
          </a:stretch>
        </p:blipFill>
        <p:spPr>
          <a:xfrm>
            <a:off x="581025" y="1850123"/>
            <a:ext cx="5219700" cy="941743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Shape 1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2" name="Google Shape;152;p17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53" name="Google Shape;153;p17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81025" y="1404550"/>
            <a:ext cx="5372101" cy="2231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54" name="Google Shape;154;p17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6238875" y="1404550"/>
            <a:ext cx="5372101" cy="2231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55" name="Google Shape;155;p17" descr="image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581025" y="4201575"/>
            <a:ext cx="5372101" cy="24343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56" name="Google Shape;156;p17" descr="image.png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6238875" y="4201575"/>
            <a:ext cx="5372101" cy="24343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57" name="Google Shape;157;p17" descr="image.png"/>
          <p:cNvPicPr preferRelativeResize="0"/>
          <p:nvPr/>
        </p:nvPicPr>
        <p:blipFill rotWithShape="1">
          <a:blip r:embed="rId8">
            <a:alphaModFix/>
          </a:blip>
          <a:srcRect/>
          <a:stretch/>
        </p:blipFill>
        <p:spPr>
          <a:xfrm>
            <a:off x="876300" y="2879513"/>
            <a:ext cx="4781550" cy="756046"/>
          </a:xfrm>
          <a:prstGeom prst="rect">
            <a:avLst/>
          </a:prstGeom>
          <a:noFill/>
          <a:ln>
            <a:noFill/>
          </a:ln>
        </p:spPr>
      </p:pic>
      <p:sp>
        <p:nvSpPr>
          <p:cNvPr id="158" name="Google Shape;158;p17"/>
          <p:cNvSpPr txBox="1"/>
          <p:nvPr/>
        </p:nvSpPr>
        <p:spPr>
          <a:xfrm>
            <a:off x="876300" y="1565076"/>
            <a:ext cx="5020627" cy="3238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1" i="0" u="none" strike="noStrike" cap="none">
                <a:solidFill>
                  <a:srgbClr val="DEFF9A"/>
                </a:solidFill>
                <a:latin typeface="Urbanist"/>
                <a:ea typeface="Urbanist"/>
                <a:cs typeface="Urbanist"/>
                <a:sym typeface="Urbanist"/>
              </a:rPr>
              <a:t>Logistic Regression</a:t>
            </a:r>
            <a:endParaRPr/>
          </a:p>
        </p:txBody>
      </p:sp>
      <p:sp>
        <p:nvSpPr>
          <p:cNvPr id="159" name="Google Shape;159;p17"/>
          <p:cNvSpPr txBox="1"/>
          <p:nvPr/>
        </p:nvSpPr>
        <p:spPr>
          <a:xfrm>
            <a:off x="876300" y="2079426"/>
            <a:ext cx="4781550" cy="60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A baseline linear model. Good for interpretability but assumes linear decision boundaries.</a:t>
            </a:r>
            <a:endParaRPr/>
          </a:p>
        </p:txBody>
      </p:sp>
      <p:sp>
        <p:nvSpPr>
          <p:cNvPr id="160" name="Google Shape;160;p17"/>
          <p:cNvSpPr txBox="1"/>
          <p:nvPr/>
        </p:nvSpPr>
        <p:spPr>
          <a:xfrm>
            <a:off x="6534213" y="1920876"/>
            <a:ext cx="5020500" cy="32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1" i="0" u="none" strike="noStrike" cap="none">
                <a:solidFill>
                  <a:srgbClr val="DEFF9A"/>
                </a:solidFill>
                <a:latin typeface="Urbanist"/>
                <a:ea typeface="Urbanist"/>
                <a:cs typeface="Urbanist"/>
                <a:sym typeface="Urbanist"/>
              </a:rPr>
              <a:t>Support Vector Machine (SVC)</a:t>
            </a:r>
            <a:endParaRPr/>
          </a:p>
        </p:txBody>
      </p:sp>
      <p:sp>
        <p:nvSpPr>
          <p:cNvPr id="161" name="Google Shape;161;p17"/>
          <p:cNvSpPr txBox="1"/>
          <p:nvPr/>
        </p:nvSpPr>
        <p:spPr>
          <a:xfrm>
            <a:off x="6534150" y="2379301"/>
            <a:ext cx="4781700" cy="96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Attempts to find the optimal hyperplane separating fraud from non-fraud. Used with a linear kernel and balanced class weights.</a:t>
            </a:r>
            <a:endParaRPr/>
          </a:p>
        </p:txBody>
      </p:sp>
      <p:sp>
        <p:nvSpPr>
          <p:cNvPr id="162" name="Google Shape;162;p17"/>
          <p:cNvSpPr txBox="1"/>
          <p:nvPr/>
        </p:nvSpPr>
        <p:spPr>
          <a:xfrm>
            <a:off x="876300" y="4978598"/>
            <a:ext cx="5020500" cy="32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1" i="0" u="none" strike="noStrike" cap="none">
                <a:solidFill>
                  <a:srgbClr val="DEFF9A"/>
                </a:solidFill>
                <a:latin typeface="Urbanist"/>
                <a:ea typeface="Urbanist"/>
                <a:cs typeface="Urbanist"/>
                <a:sym typeface="Urbanist"/>
              </a:rPr>
              <a:t>Decision Tree</a:t>
            </a:r>
            <a:endParaRPr/>
          </a:p>
        </p:txBody>
      </p:sp>
      <p:sp>
        <p:nvSpPr>
          <p:cNvPr id="163" name="Google Shape;163;p17"/>
          <p:cNvSpPr txBox="1"/>
          <p:nvPr/>
        </p:nvSpPr>
        <p:spPr>
          <a:xfrm>
            <a:off x="876300" y="5466898"/>
            <a:ext cx="4781700" cy="600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Captures non-linear patterns by splitting data based on feature values. Can be prone to overfitting.</a:t>
            </a:r>
            <a:endParaRPr/>
          </a:p>
        </p:txBody>
      </p:sp>
      <p:sp>
        <p:nvSpPr>
          <p:cNvPr id="164" name="Google Shape;164;p17"/>
          <p:cNvSpPr txBox="1"/>
          <p:nvPr/>
        </p:nvSpPr>
        <p:spPr>
          <a:xfrm>
            <a:off x="6414613" y="4564248"/>
            <a:ext cx="5020500" cy="32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1" i="0" u="none" strike="noStrike" cap="none">
                <a:solidFill>
                  <a:srgbClr val="DEFF9A"/>
                </a:solidFill>
                <a:latin typeface="Urbanist"/>
                <a:ea typeface="Urbanist"/>
                <a:cs typeface="Urbanist"/>
                <a:sym typeface="Urbanist"/>
              </a:rPr>
              <a:t>Random Forest</a:t>
            </a:r>
            <a:endParaRPr/>
          </a:p>
        </p:txBody>
      </p:sp>
      <p:sp>
        <p:nvSpPr>
          <p:cNvPr id="165" name="Google Shape;165;p17"/>
          <p:cNvSpPr txBox="1"/>
          <p:nvPr/>
        </p:nvSpPr>
        <p:spPr>
          <a:xfrm>
            <a:off x="6534100" y="5309848"/>
            <a:ext cx="4781700" cy="96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An ensemble of Decision Trees. Reduces variance and typically provides the highest accuracy for this type of tabular data.</a:t>
            </a:r>
            <a:endParaRPr/>
          </a:p>
        </p:txBody>
      </p:sp>
      <p:pic>
        <p:nvPicPr>
          <p:cNvPr id="166" name="Google Shape;166;p17" descr="image.png"/>
          <p:cNvPicPr preferRelativeResize="0"/>
          <p:nvPr/>
        </p:nvPicPr>
        <p:blipFill rotWithShape="1">
          <a:blip r:embed="rId9">
            <a:alphaModFix/>
          </a:blip>
          <a:srcRect/>
          <a:stretch/>
        </p:blipFill>
        <p:spPr>
          <a:xfrm>
            <a:off x="6534150" y="1404551"/>
            <a:ext cx="333375" cy="381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67" name="Google Shape;167;p17" descr="image.png"/>
          <p:cNvPicPr preferRelativeResize="0"/>
          <p:nvPr/>
        </p:nvPicPr>
        <p:blipFill rotWithShape="1">
          <a:blip r:embed="rId10">
            <a:alphaModFix/>
          </a:blip>
          <a:srcRect/>
          <a:stretch/>
        </p:blipFill>
        <p:spPr>
          <a:xfrm>
            <a:off x="876300" y="4432398"/>
            <a:ext cx="333375" cy="381000"/>
          </a:xfrm>
          <a:prstGeom prst="rect">
            <a:avLst/>
          </a:prstGeom>
          <a:noFill/>
          <a:ln>
            <a:noFill/>
          </a:ln>
        </p:spPr>
      </p:pic>
      <p:sp>
        <p:nvSpPr>
          <p:cNvPr id="168" name="Google Shape;168;p17"/>
          <p:cNvSpPr txBox="1"/>
          <p:nvPr/>
        </p:nvSpPr>
        <p:spPr>
          <a:xfrm>
            <a:off x="628650" y="393502"/>
            <a:ext cx="11381400" cy="554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i="0" u="none" strike="noStrike" cap="none">
                <a:solidFill>
                  <a:srgbClr val="FFFFFF"/>
                </a:solidFill>
                <a:latin typeface="Urbanist"/>
                <a:ea typeface="Urbanist"/>
                <a:cs typeface="Urbanist"/>
                <a:sym typeface="Urbanist"/>
              </a:rPr>
              <a:t>Methodology: Models Selection</a:t>
            </a:r>
            <a:endParaRPr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3" name="Google Shape;173;p18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74" name="Google Shape;174;p18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81025" y="1952625"/>
            <a:ext cx="5229225" cy="38862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75" name="Google Shape;175;p18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6381750" y="1952625"/>
            <a:ext cx="5229225" cy="3886200"/>
          </a:xfrm>
          <a:prstGeom prst="rect">
            <a:avLst/>
          </a:prstGeom>
          <a:noFill/>
          <a:ln>
            <a:noFill/>
          </a:ln>
        </p:spPr>
      </p:pic>
      <p:sp>
        <p:nvSpPr>
          <p:cNvPr id="176" name="Google Shape;176;p18"/>
          <p:cNvSpPr txBox="1"/>
          <p:nvPr/>
        </p:nvSpPr>
        <p:spPr>
          <a:xfrm>
            <a:off x="876300" y="2247900"/>
            <a:ext cx="4870608" cy="3238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1" i="0" u="none" strike="noStrike" cap="none">
                <a:solidFill>
                  <a:srgbClr val="DEFF9A"/>
                </a:solidFill>
                <a:latin typeface="Urbanist"/>
                <a:ea typeface="Urbanist"/>
                <a:cs typeface="Urbanist"/>
                <a:sym typeface="Urbanist"/>
              </a:rPr>
              <a:t>Logistic Regression</a:t>
            </a:r>
            <a:endParaRPr/>
          </a:p>
        </p:txBody>
      </p:sp>
      <p:sp>
        <p:nvSpPr>
          <p:cNvPr id="177" name="Google Shape;177;p18"/>
          <p:cNvSpPr txBox="1"/>
          <p:nvPr/>
        </p:nvSpPr>
        <p:spPr>
          <a:xfrm>
            <a:off x="876300" y="2762250"/>
            <a:ext cx="4638675" cy="60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Performed reasonably well but struggled with complex fraud patterns.</a:t>
            </a:r>
            <a:endParaRPr/>
          </a:p>
        </p:txBody>
      </p:sp>
      <p:graphicFrame>
        <p:nvGraphicFramePr>
          <p:cNvPr id="178" name="Google Shape;178;p18"/>
          <p:cNvGraphicFramePr/>
          <p:nvPr/>
        </p:nvGraphicFramePr>
        <p:xfrm>
          <a:off x="876300" y="3562350"/>
          <a:ext cx="4638675" cy="1981200"/>
        </p:xfrm>
        <a:graphic>
          <a:graphicData uri="http://schemas.openxmlformats.org/drawingml/2006/table">
            <a:tbl>
              <a:tblPr firstRow="1" bandRow="1">
                <a:noFill/>
                <a:tableStyleId>{2C595D20-251C-4D22-B77C-D3A42B10F09D}</a:tableStyleId>
              </a:tblPr>
              <a:tblGrid>
                <a:gridCol w="29116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27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9530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650" b="1" i="0" u="none" strike="noStrike" cap="none">
                          <a:solidFill>
                            <a:srgbClr val="DEFF9A"/>
                          </a:solidFill>
                          <a:latin typeface="Urbanist"/>
                          <a:ea typeface="Urbanist"/>
                          <a:cs typeface="Urbanist"/>
                          <a:sym typeface="Urbanist"/>
                        </a:rPr>
                        <a:t>Metric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650" b="1" i="0" u="none" strike="noStrike" cap="none">
                          <a:solidFill>
                            <a:srgbClr val="DEFF9A"/>
                          </a:solidFill>
                          <a:latin typeface="Urbanist"/>
                          <a:ea typeface="Urbanist"/>
                          <a:cs typeface="Urbanist"/>
                          <a:sym typeface="Urbanist"/>
                        </a:rPr>
                        <a:t>Score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9530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i="0" u="none" strike="noStrike" cap="none">
                          <a:solidFill>
                            <a:srgbClr val="333333"/>
                          </a:solidFill>
                          <a:latin typeface="Urbanist"/>
                          <a:ea typeface="Urbanist"/>
                          <a:cs typeface="Urbanist"/>
                          <a:sym typeface="Urbanist"/>
                        </a:rPr>
                        <a:t>Precision (Fraud)</a:t>
                      </a:r>
                      <a:endParaRPr>
                        <a:solidFill>
                          <a:srgbClr val="333333"/>
                        </a:solidFill>
                      </a:endParaRPr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i="0" u="none" strike="noStrike" cap="none">
                          <a:solidFill>
                            <a:srgbClr val="333333"/>
                          </a:solidFill>
                          <a:latin typeface="Urbanist"/>
                          <a:ea typeface="Urbanist"/>
                          <a:cs typeface="Urbanist"/>
                          <a:sym typeface="Urbanist"/>
                        </a:rPr>
                        <a:t>0.89</a:t>
                      </a:r>
                      <a:endParaRPr>
                        <a:solidFill>
                          <a:srgbClr val="333333"/>
                        </a:solidFill>
                      </a:endParaRPr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9530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i="0" u="none" strike="noStrike" cap="none">
                          <a:solidFill>
                            <a:srgbClr val="333333"/>
                          </a:solidFill>
                          <a:latin typeface="Urbanist"/>
                          <a:ea typeface="Urbanist"/>
                          <a:cs typeface="Urbanist"/>
                          <a:sym typeface="Urbanist"/>
                        </a:rPr>
                        <a:t>Recall (Fraud)</a:t>
                      </a:r>
                      <a:endParaRPr>
                        <a:solidFill>
                          <a:srgbClr val="333333"/>
                        </a:solidFill>
                      </a:endParaRPr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i="0" u="none" strike="noStrike" cap="none">
                          <a:solidFill>
                            <a:srgbClr val="333333"/>
                          </a:solidFill>
                          <a:latin typeface="Urbanist"/>
                          <a:ea typeface="Urbanist"/>
                          <a:cs typeface="Urbanist"/>
                          <a:sym typeface="Urbanist"/>
                        </a:rPr>
                        <a:t>0.91</a:t>
                      </a:r>
                      <a:endParaRPr>
                        <a:solidFill>
                          <a:srgbClr val="333333"/>
                        </a:solidFill>
                      </a:endParaRPr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9530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i="0" u="none" strike="noStrike" cap="none">
                          <a:solidFill>
                            <a:srgbClr val="333333"/>
                          </a:solidFill>
                          <a:latin typeface="Urbanist"/>
                          <a:ea typeface="Urbanist"/>
                          <a:cs typeface="Urbanist"/>
                          <a:sym typeface="Urbanist"/>
                        </a:rPr>
                        <a:t>F1-Score</a:t>
                      </a:r>
                      <a:endParaRPr>
                        <a:solidFill>
                          <a:srgbClr val="333333"/>
                        </a:solidFill>
                      </a:endParaRPr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i="0" u="none" strike="noStrike" cap="none">
                          <a:solidFill>
                            <a:srgbClr val="333333"/>
                          </a:solidFill>
                          <a:latin typeface="Urbanist"/>
                          <a:ea typeface="Urbanist"/>
                          <a:cs typeface="Urbanist"/>
                          <a:sym typeface="Urbanist"/>
                        </a:rPr>
                        <a:t>0.90</a:t>
                      </a:r>
                      <a:endParaRPr>
                        <a:solidFill>
                          <a:srgbClr val="333333"/>
                        </a:solidFill>
                      </a:endParaRPr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179" name="Google Shape;179;p18"/>
          <p:cNvSpPr txBox="1"/>
          <p:nvPr/>
        </p:nvSpPr>
        <p:spPr>
          <a:xfrm>
            <a:off x="6677025" y="2247900"/>
            <a:ext cx="4870608" cy="3238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1" i="0" u="none" strike="noStrike" cap="none">
                <a:solidFill>
                  <a:srgbClr val="DEFF9A"/>
                </a:solidFill>
                <a:latin typeface="Urbanist"/>
                <a:ea typeface="Urbanist"/>
                <a:cs typeface="Urbanist"/>
                <a:sym typeface="Urbanist"/>
              </a:rPr>
              <a:t>SVM (Linear Kernel)</a:t>
            </a:r>
            <a:endParaRPr/>
          </a:p>
        </p:txBody>
      </p:sp>
      <p:graphicFrame>
        <p:nvGraphicFramePr>
          <p:cNvPr id="181" name="Google Shape;181;p18"/>
          <p:cNvGraphicFramePr/>
          <p:nvPr>
            <p:extLst>
              <p:ext uri="{D42A27DB-BD31-4B8C-83A1-F6EECF244321}">
                <p14:modId xmlns:p14="http://schemas.microsoft.com/office/powerpoint/2010/main" val="3720476394"/>
              </p:ext>
            </p:extLst>
          </p:nvPr>
        </p:nvGraphicFramePr>
        <p:xfrm>
          <a:off x="6677025" y="3562350"/>
          <a:ext cx="4638675" cy="1981200"/>
        </p:xfrm>
        <a:graphic>
          <a:graphicData uri="http://schemas.openxmlformats.org/drawingml/2006/table">
            <a:tbl>
              <a:tblPr firstRow="1" bandRow="1">
                <a:noFill/>
                <a:tableStyleId>{2C595D20-251C-4D22-B77C-D3A42B10F09D}</a:tableStyleId>
              </a:tblPr>
              <a:tblGrid>
                <a:gridCol w="29116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27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9530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650" b="1" i="0" u="none" strike="noStrike" cap="none">
                          <a:solidFill>
                            <a:srgbClr val="DEFF9A"/>
                          </a:solidFill>
                          <a:latin typeface="Urbanist"/>
                          <a:ea typeface="Urbanist"/>
                          <a:cs typeface="Urbanist"/>
                          <a:sym typeface="Urbanist"/>
                        </a:rPr>
                        <a:t>Metric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650" b="1" i="0" u="none" strike="noStrike" cap="none">
                          <a:solidFill>
                            <a:srgbClr val="DEFF9A"/>
                          </a:solidFill>
                          <a:latin typeface="Urbanist"/>
                          <a:ea typeface="Urbanist"/>
                          <a:cs typeface="Urbanist"/>
                          <a:sym typeface="Urbanist"/>
                        </a:rPr>
                        <a:t>Score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9530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i="0" u="none" strike="noStrike" cap="none" dirty="0">
                          <a:latin typeface="Urbanist"/>
                          <a:ea typeface="Urbanist"/>
                          <a:cs typeface="Urbanist"/>
                          <a:sym typeface="Urbanist"/>
                        </a:rPr>
                        <a:t>Precision (Fraud)</a:t>
                      </a:r>
                      <a:endParaRPr dirty="0"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dirty="0"/>
                        <a:t>0.09</a:t>
                      </a:r>
                      <a:endParaRPr dirty="0"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9530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i="0" u="none" strike="noStrike" cap="none">
                          <a:latin typeface="Urbanist"/>
                          <a:ea typeface="Urbanist"/>
                          <a:cs typeface="Urbanist"/>
                          <a:sym typeface="Urbanist"/>
                        </a:rPr>
                        <a:t>Recall (Fraud)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dirty="0"/>
                        <a:t>0.99</a:t>
                      </a:r>
                      <a:endParaRPr dirty="0"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9530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i="0" u="none" strike="noStrike" cap="none">
                          <a:latin typeface="Urbanist"/>
                          <a:ea typeface="Urbanist"/>
                          <a:cs typeface="Urbanist"/>
                          <a:sym typeface="Urbanist"/>
                        </a:rPr>
                        <a:t>F1-Score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dirty="0"/>
                        <a:t>0.17</a:t>
                      </a:r>
                      <a:endParaRPr dirty="0"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182" name="Google Shape;182;p18"/>
          <p:cNvSpPr/>
          <p:nvPr/>
        </p:nvSpPr>
        <p:spPr>
          <a:xfrm>
            <a:off x="876300" y="4100512"/>
            <a:ext cx="2911673" cy="9525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3" name="Google Shape;183;p18"/>
          <p:cNvSpPr/>
          <p:nvPr/>
        </p:nvSpPr>
        <p:spPr>
          <a:xfrm>
            <a:off x="3787973" y="4100512"/>
            <a:ext cx="1727001" cy="9525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4" name="Google Shape;184;p18"/>
          <p:cNvSpPr/>
          <p:nvPr/>
        </p:nvSpPr>
        <p:spPr>
          <a:xfrm>
            <a:off x="6677025" y="4100512"/>
            <a:ext cx="2911673" cy="9525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5" name="Google Shape;185;p18"/>
          <p:cNvSpPr/>
          <p:nvPr/>
        </p:nvSpPr>
        <p:spPr>
          <a:xfrm>
            <a:off x="9588698" y="4100512"/>
            <a:ext cx="1727001" cy="9525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6" name="Google Shape;186;p18"/>
          <p:cNvSpPr/>
          <p:nvPr/>
        </p:nvSpPr>
        <p:spPr>
          <a:xfrm>
            <a:off x="876300" y="4576762"/>
            <a:ext cx="2911673" cy="9525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7" name="Google Shape;187;p18"/>
          <p:cNvSpPr/>
          <p:nvPr/>
        </p:nvSpPr>
        <p:spPr>
          <a:xfrm>
            <a:off x="3787973" y="4576762"/>
            <a:ext cx="1727001" cy="9525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8" name="Google Shape;188;p18"/>
          <p:cNvSpPr/>
          <p:nvPr/>
        </p:nvSpPr>
        <p:spPr>
          <a:xfrm>
            <a:off x="876300" y="5053012"/>
            <a:ext cx="2911673" cy="9525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9" name="Google Shape;189;p18"/>
          <p:cNvSpPr/>
          <p:nvPr/>
        </p:nvSpPr>
        <p:spPr>
          <a:xfrm>
            <a:off x="3787973" y="5053012"/>
            <a:ext cx="1727001" cy="9525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0" name="Google Shape;190;p18"/>
          <p:cNvSpPr/>
          <p:nvPr/>
        </p:nvSpPr>
        <p:spPr>
          <a:xfrm>
            <a:off x="876300" y="5529262"/>
            <a:ext cx="2911673" cy="9525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1" name="Google Shape;191;p18"/>
          <p:cNvSpPr/>
          <p:nvPr/>
        </p:nvSpPr>
        <p:spPr>
          <a:xfrm>
            <a:off x="3787973" y="5529262"/>
            <a:ext cx="1727001" cy="9525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2" name="Google Shape;192;p18"/>
          <p:cNvSpPr/>
          <p:nvPr/>
        </p:nvSpPr>
        <p:spPr>
          <a:xfrm>
            <a:off x="6677025" y="4576762"/>
            <a:ext cx="2911673" cy="9525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3" name="Google Shape;193;p18"/>
          <p:cNvSpPr/>
          <p:nvPr/>
        </p:nvSpPr>
        <p:spPr>
          <a:xfrm>
            <a:off x="9588698" y="4576762"/>
            <a:ext cx="1727001" cy="9525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4" name="Google Shape;194;p18"/>
          <p:cNvSpPr/>
          <p:nvPr/>
        </p:nvSpPr>
        <p:spPr>
          <a:xfrm>
            <a:off x="6677025" y="5053012"/>
            <a:ext cx="2911673" cy="9525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5" name="Google Shape;195;p18"/>
          <p:cNvSpPr/>
          <p:nvPr/>
        </p:nvSpPr>
        <p:spPr>
          <a:xfrm>
            <a:off x="9588698" y="5053012"/>
            <a:ext cx="1727001" cy="9525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6" name="Google Shape;196;p18"/>
          <p:cNvSpPr/>
          <p:nvPr/>
        </p:nvSpPr>
        <p:spPr>
          <a:xfrm>
            <a:off x="6677025" y="5529262"/>
            <a:ext cx="2911673" cy="9525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7" name="Google Shape;197;p18"/>
          <p:cNvSpPr/>
          <p:nvPr/>
        </p:nvSpPr>
        <p:spPr>
          <a:xfrm>
            <a:off x="9588698" y="5529262"/>
            <a:ext cx="1727001" cy="9525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8" name="Google Shape;198;p18"/>
          <p:cNvSpPr txBox="1"/>
          <p:nvPr/>
        </p:nvSpPr>
        <p:spPr>
          <a:xfrm>
            <a:off x="771525" y="581025"/>
            <a:ext cx="11381422" cy="552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i="0" u="none" strike="noStrike" cap="none">
                <a:solidFill>
                  <a:srgbClr val="FFFFFF"/>
                </a:solidFill>
                <a:latin typeface="Urbanist"/>
                <a:ea typeface="Urbanist"/>
                <a:cs typeface="Urbanist"/>
                <a:sym typeface="Urbanist"/>
              </a:rPr>
              <a:t>Results: Linear Models</a:t>
            </a:r>
            <a:endParaRPr/>
          </a:p>
        </p:txBody>
      </p:sp>
      <p:sp>
        <p:nvSpPr>
          <p:cNvPr id="199" name="Google Shape;199;p18"/>
          <p:cNvSpPr/>
          <p:nvPr/>
        </p:nvSpPr>
        <p:spPr>
          <a:xfrm>
            <a:off x="581025" y="581025"/>
            <a:ext cx="47625" cy="552450"/>
          </a:xfrm>
          <a:prstGeom prst="rect">
            <a:avLst/>
          </a:prstGeom>
          <a:solidFill>
            <a:srgbClr val="DEFF9A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C5307799-76AC-9820-B67D-1FD82E2E4630}"/>
              </a:ext>
            </a:extLst>
          </p:cNvPr>
          <p:cNvSpPr txBox="1"/>
          <p:nvPr/>
        </p:nvSpPr>
        <p:spPr>
          <a:xfrm>
            <a:off x="6797040" y="2707065"/>
            <a:ext cx="4221480" cy="104644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sz="1600" dirty="0">
                <a:solidFill>
                  <a:srgbClr val="CCCCCC"/>
                </a:solidFill>
                <a:latin typeface="Urbanist"/>
                <a:ea typeface="Urbanist"/>
                <a:cs typeface="Urbanist"/>
              </a:rPr>
              <a:t>Performed bad because the dataset is imbalanced and in general it’s a poor fit for large datasets</a:t>
            </a:r>
          </a:p>
          <a:p>
            <a:endParaRPr lang="en-GB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19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05" name="Google Shape;205;p19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6381750" y="1514475"/>
            <a:ext cx="5229225" cy="47625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06" name="Google Shape;206;p19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581025" y="2262187"/>
            <a:ext cx="5229225" cy="1857375"/>
          </a:xfrm>
          <a:prstGeom prst="rect">
            <a:avLst/>
          </a:prstGeom>
          <a:noFill/>
          <a:ln>
            <a:noFill/>
          </a:ln>
        </p:spPr>
      </p:pic>
      <p:pic>
        <p:nvPicPr>
          <p:cNvPr id="207" name="Google Shape;207;p19" descr="image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581025" y="4310062"/>
            <a:ext cx="5229225" cy="2162175"/>
          </a:xfrm>
          <a:prstGeom prst="rect">
            <a:avLst/>
          </a:prstGeom>
          <a:noFill/>
          <a:ln>
            <a:noFill/>
          </a:ln>
        </p:spPr>
      </p:pic>
      <p:sp>
        <p:nvSpPr>
          <p:cNvPr id="208" name="Google Shape;208;p19"/>
          <p:cNvSpPr txBox="1"/>
          <p:nvPr/>
        </p:nvSpPr>
        <p:spPr>
          <a:xfrm>
            <a:off x="581025" y="1509712"/>
            <a:ext cx="5229225" cy="60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 dirty="0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Tree-based models significantly outperformed linear models on this dataset.</a:t>
            </a:r>
            <a:endParaRPr dirty="0"/>
          </a:p>
        </p:txBody>
      </p:sp>
      <p:pic>
        <p:nvPicPr>
          <p:cNvPr id="209" name="Google Shape;209;p19" descr="image.png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6391275" y="1524000"/>
            <a:ext cx="5210175" cy="4743450"/>
          </a:xfrm>
          <a:prstGeom prst="rect">
            <a:avLst/>
          </a:prstGeom>
          <a:noFill/>
          <a:ln>
            <a:noFill/>
          </a:ln>
        </p:spPr>
      </p:pic>
      <p:sp>
        <p:nvSpPr>
          <p:cNvPr id="210" name="Google Shape;210;p19"/>
          <p:cNvSpPr txBox="1"/>
          <p:nvPr/>
        </p:nvSpPr>
        <p:spPr>
          <a:xfrm>
            <a:off x="876300" y="2557462"/>
            <a:ext cx="4870608" cy="3238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1" i="0" u="none" strike="noStrike" cap="none">
                <a:solidFill>
                  <a:srgbClr val="DEFF9A"/>
                </a:solidFill>
                <a:latin typeface="Urbanist"/>
                <a:ea typeface="Urbanist"/>
                <a:cs typeface="Urbanist"/>
                <a:sym typeface="Urbanist"/>
              </a:rPr>
              <a:t>Decision Tree</a:t>
            </a:r>
            <a:endParaRPr/>
          </a:p>
        </p:txBody>
      </p:sp>
      <p:sp>
        <p:nvSpPr>
          <p:cNvPr id="211" name="Google Shape;211;p19"/>
          <p:cNvSpPr txBox="1"/>
          <p:nvPr/>
        </p:nvSpPr>
        <p:spPr>
          <a:xfrm>
            <a:off x="876300" y="3071812"/>
            <a:ext cx="4638675" cy="60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Near perfect accuracy, capturing the sharp thresholds in transaction rules.</a:t>
            </a:r>
            <a:endParaRPr/>
          </a:p>
        </p:txBody>
      </p:sp>
      <p:sp>
        <p:nvSpPr>
          <p:cNvPr id="212" name="Google Shape;212;p19"/>
          <p:cNvSpPr txBox="1"/>
          <p:nvPr/>
        </p:nvSpPr>
        <p:spPr>
          <a:xfrm>
            <a:off x="876300" y="4605337"/>
            <a:ext cx="4870608" cy="3238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1" i="0" u="none" strike="noStrike" cap="none">
                <a:solidFill>
                  <a:srgbClr val="DEFF9A"/>
                </a:solidFill>
                <a:latin typeface="Urbanist"/>
                <a:ea typeface="Urbanist"/>
                <a:cs typeface="Urbanist"/>
                <a:sym typeface="Urbanist"/>
              </a:rPr>
              <a:t>Random Forest</a:t>
            </a:r>
            <a:endParaRPr/>
          </a:p>
        </p:txBody>
      </p:sp>
      <p:sp>
        <p:nvSpPr>
          <p:cNvPr id="213" name="Google Shape;213;p19"/>
          <p:cNvSpPr txBox="1"/>
          <p:nvPr/>
        </p:nvSpPr>
        <p:spPr>
          <a:xfrm>
            <a:off x="871575" y="4929187"/>
            <a:ext cx="4638600" cy="14773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 dirty="0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Achieved 100% precision and recall on the test set, effectively eliminating false positives and negatives. This is due to its nature of using majority voting and a group of decision trees. </a:t>
            </a:r>
            <a:endParaRPr dirty="0"/>
          </a:p>
        </p:txBody>
      </p:sp>
      <p:sp>
        <p:nvSpPr>
          <p:cNvPr id="214" name="Google Shape;214;p19"/>
          <p:cNvSpPr txBox="1"/>
          <p:nvPr/>
        </p:nvSpPr>
        <p:spPr>
          <a:xfrm>
            <a:off x="771525" y="385762"/>
            <a:ext cx="11381422" cy="552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i="0" u="none" strike="noStrike" cap="none">
                <a:solidFill>
                  <a:srgbClr val="FFFFFF"/>
                </a:solidFill>
                <a:latin typeface="Urbanist"/>
                <a:ea typeface="Urbanist"/>
                <a:cs typeface="Urbanist"/>
                <a:sym typeface="Urbanist"/>
              </a:rPr>
              <a:t>Results: Tree-Based Models</a:t>
            </a:r>
            <a:endParaRPr/>
          </a:p>
        </p:txBody>
      </p:sp>
      <p:sp>
        <p:nvSpPr>
          <p:cNvPr id="215" name="Google Shape;215;p19"/>
          <p:cNvSpPr/>
          <p:nvPr/>
        </p:nvSpPr>
        <p:spPr>
          <a:xfrm>
            <a:off x="581025" y="385762"/>
            <a:ext cx="47625" cy="552450"/>
          </a:xfrm>
          <a:prstGeom prst="rect">
            <a:avLst/>
          </a:prstGeom>
          <a:solidFill>
            <a:srgbClr val="DEFF9A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Shape 2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0" name="Google Shape;220;p20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307841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222" name="Google Shape;222;p20"/>
          <p:cNvSpPr txBox="1"/>
          <p:nvPr/>
        </p:nvSpPr>
        <p:spPr>
          <a:xfrm>
            <a:off x="6381750" y="2081212"/>
            <a:ext cx="5490686" cy="3238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1" i="0" u="none" strike="noStrike" cap="none">
                <a:solidFill>
                  <a:srgbClr val="DEFF9A"/>
                </a:solidFill>
                <a:latin typeface="Urbanist"/>
                <a:ea typeface="Urbanist"/>
                <a:cs typeface="Urbanist"/>
                <a:sym typeface="Urbanist"/>
              </a:rPr>
              <a:t>Why it Matters</a:t>
            </a:r>
            <a:endParaRPr/>
          </a:p>
        </p:txBody>
      </p:sp>
      <p:sp>
        <p:nvSpPr>
          <p:cNvPr id="223" name="Google Shape;223;p20"/>
          <p:cNvSpPr txBox="1"/>
          <p:nvPr/>
        </p:nvSpPr>
        <p:spPr>
          <a:xfrm>
            <a:off x="6381750" y="2595562"/>
            <a:ext cx="5229225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In fraud detection, accuracy isn't enough. We must look at:</a:t>
            </a:r>
            <a:endParaRPr/>
          </a:p>
        </p:txBody>
      </p:sp>
      <p:sp>
        <p:nvSpPr>
          <p:cNvPr id="224" name="Google Shape;224;p20"/>
          <p:cNvSpPr txBox="1"/>
          <p:nvPr/>
        </p:nvSpPr>
        <p:spPr>
          <a:xfrm>
            <a:off x="6381750" y="5262562"/>
            <a:ext cx="5229225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1" u="none" strike="noStrike" cap="none">
                <a:solidFill>
                  <a:srgbClr val="DEFF9A"/>
                </a:solidFill>
                <a:latin typeface="Urbanist"/>
                <a:ea typeface="Urbanist"/>
                <a:cs typeface="Urbanist"/>
                <a:sym typeface="Urbanist"/>
              </a:rPr>
              <a:t>The Random Forest model minimized both errors to near zero.</a:t>
            </a:r>
            <a:endParaRPr/>
          </a:p>
        </p:txBody>
      </p:sp>
      <p:sp>
        <p:nvSpPr>
          <p:cNvPr id="225" name="Google Shape;225;p20"/>
          <p:cNvSpPr txBox="1"/>
          <p:nvPr/>
        </p:nvSpPr>
        <p:spPr>
          <a:xfrm>
            <a:off x="6381750" y="3052762"/>
            <a:ext cx="5229225" cy="9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3333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FF6B6B"/>
                </a:solidFill>
                <a:latin typeface="Urbanist"/>
                <a:ea typeface="Urbanist"/>
                <a:cs typeface="Urbanist"/>
                <a:sym typeface="Urbanist"/>
              </a:rPr>
              <a:t>False Negatives (FN)</a:t>
            </a:r>
            <a:br>
              <a:rPr lang="en-US"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1500" b="0" i="0" u="none" strike="noStrike" cap="none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 Fraudulent transactions labeled as safe. </a:t>
            </a:r>
            <a:br>
              <a:rPr lang="en-US"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1500" b="0" i="1" u="none" strike="noStrike" cap="none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Cost: Direct financial loss.</a:t>
            </a:r>
            <a:endParaRPr/>
          </a:p>
        </p:txBody>
      </p:sp>
      <p:sp>
        <p:nvSpPr>
          <p:cNvPr id="226" name="Google Shape;226;p20"/>
          <p:cNvSpPr txBox="1"/>
          <p:nvPr/>
        </p:nvSpPr>
        <p:spPr>
          <a:xfrm>
            <a:off x="6381750" y="4157662"/>
            <a:ext cx="5229225" cy="9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3333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FCA5A5"/>
                </a:solidFill>
                <a:latin typeface="Urbanist"/>
                <a:ea typeface="Urbanist"/>
                <a:cs typeface="Urbanist"/>
                <a:sym typeface="Urbanist"/>
              </a:rPr>
              <a:t>False Positives (FP)</a:t>
            </a:r>
            <a:br>
              <a:rPr lang="en-US"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1500" b="0" i="0" u="none" strike="noStrike" cap="none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 Safe transactions labeled as fraud. </a:t>
            </a:r>
            <a:br>
              <a:rPr lang="en-US"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1500" b="0" i="1" u="none" strike="noStrike" cap="none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Cost: Customer annoyance and blocked cards.</a:t>
            </a:r>
            <a:endParaRPr/>
          </a:p>
        </p:txBody>
      </p:sp>
      <p:sp>
        <p:nvSpPr>
          <p:cNvPr id="227" name="Google Shape;227;p20"/>
          <p:cNvSpPr txBox="1"/>
          <p:nvPr/>
        </p:nvSpPr>
        <p:spPr>
          <a:xfrm>
            <a:off x="771525" y="581025"/>
            <a:ext cx="11381422" cy="552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i="0" u="none" strike="noStrike" cap="none" dirty="0">
                <a:solidFill>
                  <a:srgbClr val="FFFFFF"/>
                </a:solidFill>
                <a:latin typeface="Urbanist"/>
                <a:ea typeface="Urbanist"/>
                <a:cs typeface="Urbanist"/>
                <a:sym typeface="Urbanist"/>
              </a:rPr>
              <a:t>Confusion Matrix Analysis</a:t>
            </a:r>
            <a:endParaRPr dirty="0"/>
          </a:p>
        </p:txBody>
      </p:sp>
      <p:sp>
        <p:nvSpPr>
          <p:cNvPr id="228" name="Google Shape;228;p20"/>
          <p:cNvSpPr/>
          <p:nvPr/>
        </p:nvSpPr>
        <p:spPr>
          <a:xfrm>
            <a:off x="581025" y="581025"/>
            <a:ext cx="47625" cy="552450"/>
          </a:xfrm>
          <a:prstGeom prst="rect">
            <a:avLst/>
          </a:prstGeom>
          <a:solidFill>
            <a:srgbClr val="DEFF9A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3" name="Picture 2" descr="A diagram of a logistic regression matrix&#10;&#10;AI-generated content may be incorrect.">
            <a:extLst>
              <a:ext uri="{FF2B5EF4-FFF2-40B4-BE49-F238E27FC236}">
                <a16:creationId xmlns:a16="http://schemas.microsoft.com/office/drawing/2014/main" id="{7AAA935F-316B-4AF5-F4C0-FD3368FC05C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8650" y="1514475"/>
            <a:ext cx="2668802" cy="2222367"/>
          </a:xfrm>
          <a:prstGeom prst="rect">
            <a:avLst/>
          </a:prstGeom>
        </p:spPr>
      </p:pic>
      <p:pic>
        <p:nvPicPr>
          <p:cNvPr id="5" name="Picture 4" descr="A chart with numbers and labels&#10;&#10;AI-generated content may be incorrect.">
            <a:extLst>
              <a:ext uri="{FF2B5EF4-FFF2-40B4-BE49-F238E27FC236}">
                <a16:creationId xmlns:a16="http://schemas.microsoft.com/office/drawing/2014/main" id="{CE77B54E-B83B-7962-2E7D-FEB03984D6E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296596" y="1514474"/>
            <a:ext cx="2665855" cy="2222367"/>
          </a:xfrm>
          <a:prstGeom prst="rect">
            <a:avLst/>
          </a:prstGeom>
        </p:spPr>
      </p:pic>
      <p:pic>
        <p:nvPicPr>
          <p:cNvPr id="7" name="Picture 6" descr="A graph of decision tree and random forest contours&#10;&#10;AI-generated content may be incorrect.">
            <a:extLst>
              <a:ext uri="{FF2B5EF4-FFF2-40B4-BE49-F238E27FC236}">
                <a16:creationId xmlns:a16="http://schemas.microsoft.com/office/drawing/2014/main" id="{4364AFC5-194D-1745-18F5-ADDE4892E0B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28650" y="3927298"/>
            <a:ext cx="5340843" cy="2053372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Shape 2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3" name="Google Shape;233;p21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236" name="Google Shape;236;p21"/>
          <p:cNvSpPr txBox="1"/>
          <p:nvPr/>
        </p:nvSpPr>
        <p:spPr>
          <a:xfrm>
            <a:off x="771525" y="581025"/>
            <a:ext cx="11381422" cy="552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i="0" u="none" strike="noStrike" cap="none">
                <a:solidFill>
                  <a:srgbClr val="FFFFFF"/>
                </a:solidFill>
                <a:latin typeface="Urbanist"/>
                <a:ea typeface="Urbanist"/>
                <a:cs typeface="Urbanist"/>
                <a:sym typeface="Urbanist"/>
              </a:rPr>
              <a:t>The Showdown: AUC Scores</a:t>
            </a:r>
            <a:endParaRPr/>
          </a:p>
        </p:txBody>
      </p:sp>
      <p:sp>
        <p:nvSpPr>
          <p:cNvPr id="237" name="Google Shape;237;p21"/>
          <p:cNvSpPr/>
          <p:nvPr/>
        </p:nvSpPr>
        <p:spPr>
          <a:xfrm>
            <a:off x="581025" y="581025"/>
            <a:ext cx="47625" cy="552450"/>
          </a:xfrm>
          <a:prstGeom prst="rect">
            <a:avLst/>
          </a:prstGeom>
          <a:solidFill>
            <a:srgbClr val="DEFF9A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" name="Picture 1" descr="A graph of a function&#10;&#10;AI-generated content may be incorrect.">
            <a:extLst>
              <a:ext uri="{FF2B5EF4-FFF2-40B4-BE49-F238E27FC236}">
                <a16:creationId xmlns:a16="http://schemas.microsoft.com/office/drawing/2014/main" id="{9AC9D203-F175-7B19-FFBF-C4A21B9571B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19325" y="1392381"/>
            <a:ext cx="6153350" cy="5045604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5298A453-E706-6D41-AB13-F18EDB023C4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1525" y="2042160"/>
            <a:ext cx="7305305" cy="3918815"/>
          </a:xfrm>
          <a:prstGeom prst="rect">
            <a:avLst/>
          </a:prstGeom>
        </p:spPr>
      </p:pic>
      <p:sp>
        <p:nvSpPr>
          <p:cNvPr id="7" name="Google Shape;227;p20">
            <a:extLst>
              <a:ext uri="{FF2B5EF4-FFF2-40B4-BE49-F238E27FC236}">
                <a16:creationId xmlns:a16="http://schemas.microsoft.com/office/drawing/2014/main" id="{506C4FCE-25E2-2B0D-53D7-E49C5157F98E}"/>
              </a:ext>
            </a:extLst>
          </p:cNvPr>
          <p:cNvSpPr txBox="1"/>
          <p:nvPr/>
        </p:nvSpPr>
        <p:spPr>
          <a:xfrm>
            <a:off x="771525" y="581025"/>
            <a:ext cx="11381422" cy="552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i="0" u="none" strike="noStrike" cap="none" dirty="0">
                <a:solidFill>
                  <a:srgbClr val="FFFFFF"/>
                </a:solidFill>
                <a:latin typeface="Urbanist"/>
                <a:ea typeface="Urbanist"/>
                <a:cs typeface="Urbanist"/>
                <a:sym typeface="Urbanist"/>
              </a:rPr>
              <a:t>Model Deployment</a:t>
            </a:r>
            <a:endParaRPr lang="en-US" dirty="0"/>
          </a:p>
        </p:txBody>
      </p:sp>
      <p:sp>
        <p:nvSpPr>
          <p:cNvPr id="8" name="Google Shape;213;p19">
            <a:extLst>
              <a:ext uri="{FF2B5EF4-FFF2-40B4-BE49-F238E27FC236}">
                <a16:creationId xmlns:a16="http://schemas.microsoft.com/office/drawing/2014/main" id="{7A9D1389-1397-01B2-E9E1-3CAB0B50313C}"/>
              </a:ext>
            </a:extLst>
          </p:cNvPr>
          <p:cNvSpPr txBox="1"/>
          <p:nvPr/>
        </p:nvSpPr>
        <p:spPr>
          <a:xfrm>
            <a:off x="8366760" y="2042160"/>
            <a:ext cx="3175190" cy="14773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 dirty="0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The model can be deployed to see new transactions and act upon it. This is essential in credit card fraud detection.   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2227471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Shape 2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2" name="Google Shape;242;p22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43" name="Google Shape;243;p22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81025" y="2176462"/>
            <a:ext cx="3486150" cy="3438525"/>
          </a:xfrm>
          <a:prstGeom prst="rect">
            <a:avLst/>
          </a:prstGeom>
          <a:noFill/>
          <a:ln>
            <a:noFill/>
          </a:ln>
        </p:spPr>
      </p:pic>
      <p:pic>
        <p:nvPicPr>
          <p:cNvPr id="244" name="Google Shape;244;p22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4305300" y="2176462"/>
            <a:ext cx="3486150" cy="3438525"/>
          </a:xfrm>
          <a:prstGeom prst="rect">
            <a:avLst/>
          </a:prstGeom>
          <a:noFill/>
          <a:ln>
            <a:noFill/>
          </a:ln>
        </p:spPr>
      </p:pic>
      <p:pic>
        <p:nvPicPr>
          <p:cNvPr id="245" name="Google Shape;245;p22" descr="image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8124825" y="2176462"/>
            <a:ext cx="3486150" cy="3438525"/>
          </a:xfrm>
          <a:prstGeom prst="rect">
            <a:avLst/>
          </a:prstGeom>
          <a:noFill/>
          <a:ln>
            <a:noFill/>
          </a:ln>
        </p:spPr>
      </p:pic>
      <p:sp>
        <p:nvSpPr>
          <p:cNvPr id="246" name="Google Shape;246;p22"/>
          <p:cNvSpPr txBox="1"/>
          <p:nvPr/>
        </p:nvSpPr>
        <p:spPr>
          <a:xfrm>
            <a:off x="876300" y="3119437"/>
            <a:ext cx="3040380" cy="647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1" i="0" u="none" strike="noStrike" cap="none">
                <a:solidFill>
                  <a:srgbClr val="DEFF9A"/>
                </a:solidFill>
                <a:latin typeface="Urbanist"/>
                <a:ea typeface="Urbanist"/>
                <a:cs typeface="Urbanist"/>
                <a:sym typeface="Urbanist"/>
              </a:rPr>
              <a:t>Random Forest Superiority</a:t>
            </a:r>
            <a:endParaRPr/>
          </a:p>
        </p:txBody>
      </p:sp>
      <p:sp>
        <p:nvSpPr>
          <p:cNvPr id="247" name="Google Shape;247;p22"/>
          <p:cNvSpPr txBox="1"/>
          <p:nvPr/>
        </p:nvSpPr>
        <p:spPr>
          <a:xfrm>
            <a:off x="876300" y="3957637"/>
            <a:ext cx="2895600" cy="1219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 dirty="0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Random Forest was robust against the imbalance and handled the feature interactions (like Chip + Distance) perfectly.</a:t>
            </a:r>
            <a:endParaRPr dirty="0"/>
          </a:p>
        </p:txBody>
      </p:sp>
      <p:sp>
        <p:nvSpPr>
          <p:cNvPr id="248" name="Google Shape;248;p22"/>
          <p:cNvSpPr txBox="1"/>
          <p:nvPr/>
        </p:nvSpPr>
        <p:spPr>
          <a:xfrm>
            <a:off x="4526280" y="3059028"/>
            <a:ext cx="3265170" cy="3231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1" dirty="0">
                <a:solidFill>
                  <a:srgbClr val="DEFF9A"/>
                </a:solidFill>
                <a:latin typeface="Urbanist"/>
                <a:ea typeface="Urbanist"/>
                <a:cs typeface="Urbanist"/>
                <a:sym typeface="Urbanist"/>
              </a:rPr>
              <a:t>SVM Class Imbalance Fail </a:t>
            </a:r>
            <a:endParaRPr dirty="0"/>
          </a:p>
        </p:txBody>
      </p:sp>
      <p:sp>
        <p:nvSpPr>
          <p:cNvPr id="249" name="Google Shape;249;p22"/>
          <p:cNvSpPr txBox="1"/>
          <p:nvPr/>
        </p:nvSpPr>
        <p:spPr>
          <a:xfrm>
            <a:off x="4648200" y="3633787"/>
            <a:ext cx="2895600" cy="14773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 dirty="0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Due to the large and imbalanced data, SVM failed. Moving forward, applying techniques to correct the imbalance should be considered. </a:t>
            </a:r>
            <a:endParaRPr lang="en-US" dirty="0"/>
          </a:p>
        </p:txBody>
      </p:sp>
      <p:sp>
        <p:nvSpPr>
          <p:cNvPr id="250" name="Google Shape;250;p22"/>
          <p:cNvSpPr txBox="1"/>
          <p:nvPr/>
        </p:nvSpPr>
        <p:spPr>
          <a:xfrm>
            <a:off x="8420100" y="3095624"/>
            <a:ext cx="3040380" cy="3238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1" i="0" u="none" strike="noStrike" cap="none" dirty="0">
                <a:solidFill>
                  <a:srgbClr val="DEFF9A"/>
                </a:solidFill>
                <a:latin typeface="Urbanist"/>
                <a:ea typeface="Urbanist"/>
                <a:cs typeface="Urbanist"/>
                <a:sym typeface="Urbanist"/>
              </a:rPr>
              <a:t>Stratification</a:t>
            </a:r>
            <a:endParaRPr dirty="0"/>
          </a:p>
        </p:txBody>
      </p:sp>
      <p:sp>
        <p:nvSpPr>
          <p:cNvPr id="251" name="Google Shape;251;p22"/>
          <p:cNvSpPr txBox="1"/>
          <p:nvPr/>
        </p:nvSpPr>
        <p:spPr>
          <a:xfrm>
            <a:off x="8420100" y="3633787"/>
            <a:ext cx="2895600" cy="12287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 dirty="0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Using stratify=</a:t>
            </a:r>
            <a:r>
              <a:rPr lang="en-US" sz="1500" b="0" i="0" u="none" strike="noStrike" cap="none" dirty="0" err="1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df</a:t>
            </a:r>
            <a:r>
              <a:rPr lang="en-US" sz="1500" b="0" i="0" u="none" strike="noStrike" cap="none" dirty="0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['fraud'] during the train-test split ensured our validation metrics were reliable and not skewed.</a:t>
            </a:r>
            <a:endParaRPr dirty="0"/>
          </a:p>
        </p:txBody>
      </p:sp>
      <p:pic>
        <p:nvPicPr>
          <p:cNvPr id="252" name="Google Shape;252;p22" descr="image.png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876300" y="2500312"/>
            <a:ext cx="428625" cy="381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53" name="Google Shape;253;p22" descr="image.png"/>
          <p:cNvPicPr preferRelativeResize="0"/>
          <p:nvPr/>
        </p:nvPicPr>
        <p:blipFill rotWithShape="1">
          <a:blip r:embed="rId8">
            <a:alphaModFix/>
          </a:blip>
          <a:srcRect/>
          <a:stretch/>
        </p:blipFill>
        <p:spPr>
          <a:xfrm>
            <a:off x="4648200" y="2500312"/>
            <a:ext cx="476250" cy="381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54" name="Google Shape;254;p22" descr="image.png"/>
          <p:cNvPicPr preferRelativeResize="0"/>
          <p:nvPr/>
        </p:nvPicPr>
        <p:blipFill rotWithShape="1">
          <a:blip r:embed="rId9">
            <a:alphaModFix/>
          </a:blip>
          <a:srcRect/>
          <a:stretch/>
        </p:blipFill>
        <p:spPr>
          <a:xfrm>
            <a:off x="8420100" y="2500312"/>
            <a:ext cx="428625" cy="381000"/>
          </a:xfrm>
          <a:prstGeom prst="rect">
            <a:avLst/>
          </a:prstGeom>
          <a:noFill/>
          <a:ln>
            <a:noFill/>
          </a:ln>
        </p:spPr>
      </p:pic>
      <p:sp>
        <p:nvSpPr>
          <p:cNvPr id="255" name="Google Shape;255;p22"/>
          <p:cNvSpPr txBox="1"/>
          <p:nvPr/>
        </p:nvSpPr>
        <p:spPr>
          <a:xfrm>
            <a:off x="771525" y="581025"/>
            <a:ext cx="11381422" cy="552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i="0" u="none" strike="noStrike" cap="none">
                <a:solidFill>
                  <a:srgbClr val="FFFFFF"/>
                </a:solidFill>
                <a:latin typeface="Urbanist"/>
                <a:ea typeface="Urbanist"/>
                <a:cs typeface="Urbanist"/>
                <a:sym typeface="Urbanist"/>
              </a:rPr>
              <a:t>Key Findings</a:t>
            </a:r>
            <a:endParaRPr/>
          </a:p>
        </p:txBody>
      </p:sp>
      <p:sp>
        <p:nvSpPr>
          <p:cNvPr id="256" name="Google Shape;256;p22"/>
          <p:cNvSpPr/>
          <p:nvPr/>
        </p:nvSpPr>
        <p:spPr>
          <a:xfrm>
            <a:off x="581025" y="581025"/>
            <a:ext cx="47625" cy="552450"/>
          </a:xfrm>
          <a:prstGeom prst="rect">
            <a:avLst/>
          </a:prstGeom>
          <a:solidFill>
            <a:srgbClr val="DEFF9A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61" name="Google Shape;261;p23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263" name="Google Shape;263;p23"/>
          <p:cNvSpPr txBox="1"/>
          <p:nvPr/>
        </p:nvSpPr>
        <p:spPr>
          <a:xfrm>
            <a:off x="305276" y="1762273"/>
            <a:ext cx="11581447" cy="685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500" b="1" i="0" u="none" strike="noStrike" cap="none">
                <a:solidFill>
                  <a:srgbClr val="DEFF9A"/>
                </a:solidFill>
                <a:latin typeface="Urbanist"/>
                <a:ea typeface="Urbanist"/>
                <a:cs typeface="Urbanist"/>
                <a:sym typeface="Urbanist"/>
              </a:rPr>
              <a:t>Conclusion</a:t>
            </a:r>
            <a:endParaRPr/>
          </a:p>
        </p:txBody>
      </p:sp>
      <p:sp>
        <p:nvSpPr>
          <p:cNvPr id="264" name="Google Shape;264;p23"/>
          <p:cNvSpPr txBox="1"/>
          <p:nvPr/>
        </p:nvSpPr>
        <p:spPr>
          <a:xfrm>
            <a:off x="2286000" y="2638573"/>
            <a:ext cx="7620000" cy="10970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5994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i="0" u="none" strike="noStrike" cap="none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The Random Forest classifier is the recommended model for deployment. It offers the highest protection against financial loss (Recall) while maintaining a seamless user experience (Precision).</a:t>
            </a:r>
            <a:endParaRPr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Shape 2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70" name="Google Shape;270;p24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271" name="Google Shape;271;p24"/>
          <p:cNvSpPr txBox="1"/>
          <p:nvPr/>
        </p:nvSpPr>
        <p:spPr>
          <a:xfrm>
            <a:off x="305276" y="2538412"/>
            <a:ext cx="11581447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500" b="1" i="0" u="none" strike="noStrike" cap="none">
                <a:solidFill>
                  <a:srgbClr val="DEFF9A"/>
                </a:solidFill>
                <a:latin typeface="Urbanist"/>
                <a:ea typeface="Urbanist"/>
                <a:cs typeface="Urbanist"/>
                <a:sym typeface="Urbanist"/>
              </a:rPr>
              <a:t>Q &amp; A</a:t>
            </a:r>
            <a:endParaRPr/>
          </a:p>
        </p:txBody>
      </p:sp>
      <p:sp>
        <p:nvSpPr>
          <p:cNvPr id="272" name="Google Shape;272;p24"/>
          <p:cNvSpPr txBox="1"/>
          <p:nvPr/>
        </p:nvSpPr>
        <p:spPr>
          <a:xfrm>
            <a:off x="581025" y="3871912"/>
            <a:ext cx="11029950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Thank you for your attention.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Shape 2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7" name="Google Shape;277;p25"/>
          <p:cNvSpPr/>
          <p:nvPr/>
        </p:nvSpPr>
        <p:spPr>
          <a:xfrm>
            <a:off x="581025" y="3205162"/>
            <a:ext cx="11029950" cy="9525"/>
          </a:xfrm>
          <a:prstGeom prst="rect">
            <a:avLst/>
          </a:prstGeom>
          <a:solidFill>
            <a:srgbClr val="75757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8" name="Google Shape;278;p25"/>
          <p:cNvSpPr/>
          <p:nvPr/>
        </p:nvSpPr>
        <p:spPr>
          <a:xfrm>
            <a:off x="512975" y="4095578"/>
            <a:ext cx="11030100" cy="9600"/>
          </a:xfrm>
          <a:prstGeom prst="rect">
            <a:avLst/>
          </a:prstGeom>
          <a:solidFill>
            <a:srgbClr val="75757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79" name="Google Shape;279;p25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81025" y="2480369"/>
            <a:ext cx="857250" cy="476250"/>
          </a:xfrm>
          <a:prstGeom prst="rect">
            <a:avLst/>
          </a:prstGeom>
          <a:noFill/>
          <a:ln>
            <a:noFill/>
          </a:ln>
        </p:spPr>
      </p:pic>
      <p:sp>
        <p:nvSpPr>
          <p:cNvPr id="280" name="Google Shape;280;p25"/>
          <p:cNvSpPr txBox="1"/>
          <p:nvPr/>
        </p:nvSpPr>
        <p:spPr>
          <a:xfrm>
            <a:off x="1676400" y="2374701"/>
            <a:ext cx="9934575" cy="3961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75" b="0" i="0" u="none" strike="noStrike" cap="none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https://static.vecteezy.com/system/resources/previews/010/869/687/non_2x/credit-card-phishing-with-money-and-identity-number-secure-data-protection-and-attack-online-illustration-concept-scam-privacy-finance-and-fraud-password-steal-bank-information-on-web-vector.jpg</a:t>
            </a:r>
            <a:endParaRPr/>
          </a:p>
        </p:txBody>
      </p:sp>
      <p:sp>
        <p:nvSpPr>
          <p:cNvPr id="281" name="Google Shape;281;p25"/>
          <p:cNvSpPr txBox="1"/>
          <p:nvPr/>
        </p:nvSpPr>
        <p:spPr>
          <a:xfrm>
            <a:off x="1676400" y="2818507"/>
            <a:ext cx="9934575" cy="2437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Source: </a:t>
            </a:r>
            <a:r>
              <a:rPr lang="en-US" sz="1200" b="0" i="0" u="none" strike="noStrike" cap="none">
                <a:solidFill>
                  <a:srgbClr val="4F46E5"/>
                </a:solidFill>
                <a:latin typeface="Urbanist"/>
                <a:ea typeface="Urbanist"/>
                <a:cs typeface="Urbanist"/>
                <a:sym typeface="Urbanist"/>
              </a:rPr>
              <a:t>www.vecteezy.com</a:t>
            </a:r>
            <a:endParaRPr/>
          </a:p>
        </p:txBody>
      </p:sp>
      <p:pic>
        <p:nvPicPr>
          <p:cNvPr id="282" name="Google Shape;282;p25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81025" y="3480861"/>
            <a:ext cx="857250" cy="476250"/>
          </a:xfrm>
          <a:prstGeom prst="rect">
            <a:avLst/>
          </a:prstGeom>
          <a:noFill/>
          <a:ln>
            <a:noFill/>
          </a:ln>
        </p:spPr>
      </p:pic>
      <p:sp>
        <p:nvSpPr>
          <p:cNvPr id="283" name="Google Shape;283;p25"/>
          <p:cNvSpPr txBox="1"/>
          <p:nvPr/>
        </p:nvSpPr>
        <p:spPr>
          <a:xfrm>
            <a:off x="1608350" y="3405861"/>
            <a:ext cx="9934500" cy="15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75" b="0" i="0" u="none" strike="noStrike" cap="none" dirty="0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https://</a:t>
            </a:r>
            <a:r>
              <a:rPr lang="en-US" sz="975" b="0" i="0" u="none" strike="noStrike" cap="none" dirty="0" err="1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miro.medium.com</a:t>
            </a:r>
            <a:r>
              <a:rPr lang="en-US" sz="975" b="0" i="0" u="none" strike="noStrike" cap="none" dirty="0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/1*i0o8mjFfCn-uD79-F1Cqkw.png</a:t>
            </a:r>
            <a:endParaRPr dirty="0"/>
          </a:p>
        </p:txBody>
      </p:sp>
      <p:sp>
        <p:nvSpPr>
          <p:cNvPr id="284" name="Google Shape;284;p25"/>
          <p:cNvSpPr txBox="1"/>
          <p:nvPr/>
        </p:nvSpPr>
        <p:spPr>
          <a:xfrm>
            <a:off x="1608350" y="3662004"/>
            <a:ext cx="9934500" cy="18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 dirty="0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Source: </a:t>
            </a:r>
            <a:r>
              <a:rPr lang="en-US" sz="1200" b="0" i="0" u="none" strike="noStrike" cap="none" dirty="0" err="1">
                <a:solidFill>
                  <a:srgbClr val="4F46E5"/>
                </a:solidFill>
                <a:latin typeface="Urbanist"/>
                <a:ea typeface="Urbanist"/>
                <a:cs typeface="Urbanist"/>
                <a:sym typeface="Urbanist"/>
              </a:rPr>
              <a:t>medium.com</a:t>
            </a:r>
            <a:endParaRPr dirty="0"/>
          </a:p>
        </p:txBody>
      </p:sp>
      <p:sp>
        <p:nvSpPr>
          <p:cNvPr id="285" name="Google Shape;285;p25"/>
          <p:cNvSpPr txBox="1"/>
          <p:nvPr/>
        </p:nvSpPr>
        <p:spPr>
          <a:xfrm>
            <a:off x="771525" y="581025"/>
            <a:ext cx="11381422" cy="552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i="0" u="none" strike="noStrike" cap="none">
                <a:solidFill>
                  <a:srgbClr val="FFFFFF"/>
                </a:solidFill>
                <a:latin typeface="Urbanist"/>
                <a:ea typeface="Urbanist"/>
                <a:cs typeface="Urbanist"/>
                <a:sym typeface="Urbanist"/>
              </a:rPr>
              <a:t>Image Sources</a:t>
            </a:r>
            <a:endParaRPr/>
          </a:p>
        </p:txBody>
      </p:sp>
      <p:sp>
        <p:nvSpPr>
          <p:cNvPr id="286" name="Google Shape;286;p25"/>
          <p:cNvSpPr/>
          <p:nvPr/>
        </p:nvSpPr>
        <p:spPr>
          <a:xfrm>
            <a:off x="581025" y="581025"/>
            <a:ext cx="47625" cy="552450"/>
          </a:xfrm>
          <a:prstGeom prst="rect">
            <a:avLst/>
          </a:prstGeom>
          <a:solidFill>
            <a:srgbClr val="DEFF9A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6BE79849-38AE-355A-D13E-CDC331C2775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56393" y="4382113"/>
            <a:ext cx="813832" cy="41050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Google Shape;283;p25">
            <a:extLst>
              <a:ext uri="{FF2B5EF4-FFF2-40B4-BE49-F238E27FC236}">
                <a16:creationId xmlns:a16="http://schemas.microsoft.com/office/drawing/2014/main" id="{00D51108-EFA5-7660-8B3A-CF1A71910D45}"/>
              </a:ext>
            </a:extLst>
          </p:cNvPr>
          <p:cNvSpPr txBox="1"/>
          <p:nvPr/>
        </p:nvSpPr>
        <p:spPr>
          <a:xfrm>
            <a:off x="1608350" y="4256244"/>
            <a:ext cx="9934500" cy="1538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r>
              <a:rPr lang="en-US" sz="980" dirty="0">
                <a:solidFill>
                  <a:schemeClr val="bg1"/>
                </a:solidFill>
                <a:latin typeface="Urbanist"/>
                <a:ea typeface="Urbanist"/>
                <a:cs typeface="Urbanist"/>
                <a:sym typeface="Urbanist"/>
              </a:rPr>
              <a:t>https://</a:t>
            </a:r>
            <a:r>
              <a:rPr lang="en-US" sz="980" dirty="0" err="1">
                <a:solidFill>
                  <a:schemeClr val="bg1"/>
                </a:solidFill>
                <a:latin typeface="Urbanist"/>
                <a:ea typeface="Urbanist"/>
                <a:cs typeface="Urbanist"/>
                <a:sym typeface="Urbanist"/>
              </a:rPr>
              <a:t>www.kaggle.com</a:t>
            </a:r>
            <a:r>
              <a:rPr lang="en-US" sz="980" dirty="0">
                <a:solidFill>
                  <a:schemeClr val="bg1"/>
                </a:solidFill>
                <a:latin typeface="Urbanist"/>
                <a:ea typeface="Urbanist"/>
                <a:cs typeface="Urbanist"/>
                <a:sym typeface="Urbanist"/>
              </a:rPr>
              <a:t>/datasets/</a:t>
            </a:r>
            <a:r>
              <a:rPr lang="en-US" sz="980" dirty="0" err="1">
                <a:solidFill>
                  <a:schemeClr val="bg1"/>
                </a:solidFill>
                <a:latin typeface="Urbanist"/>
                <a:ea typeface="Urbanist"/>
                <a:cs typeface="Urbanist"/>
                <a:sym typeface="Urbanist"/>
              </a:rPr>
              <a:t>dhanushnarayananr</a:t>
            </a:r>
            <a:r>
              <a:rPr lang="en-US" sz="980" dirty="0">
                <a:solidFill>
                  <a:schemeClr val="bg1"/>
                </a:solidFill>
                <a:latin typeface="Urbanist"/>
                <a:ea typeface="Urbanist"/>
                <a:cs typeface="Urbanist"/>
                <a:sym typeface="Urbanist"/>
              </a:rPr>
              <a:t>/credit-card-fraud/data</a:t>
            </a:r>
          </a:p>
        </p:txBody>
      </p:sp>
      <p:sp>
        <p:nvSpPr>
          <p:cNvPr id="5" name="Google Shape;284;p25">
            <a:extLst>
              <a:ext uri="{FF2B5EF4-FFF2-40B4-BE49-F238E27FC236}">
                <a16:creationId xmlns:a16="http://schemas.microsoft.com/office/drawing/2014/main" id="{FA97CEA3-752B-2D94-5E66-D21D23F0E52C}"/>
              </a:ext>
            </a:extLst>
          </p:cNvPr>
          <p:cNvSpPr txBox="1"/>
          <p:nvPr/>
        </p:nvSpPr>
        <p:spPr>
          <a:xfrm>
            <a:off x="1608350" y="4439634"/>
            <a:ext cx="9934500" cy="2954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 dirty="0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Source: </a:t>
            </a:r>
            <a:r>
              <a:rPr lang="en-US" sz="1200" dirty="0" err="1">
                <a:solidFill>
                  <a:srgbClr val="4F46E5"/>
                </a:solidFill>
                <a:latin typeface="Urbanist"/>
                <a:ea typeface="Urbanist"/>
                <a:cs typeface="Urbanist"/>
                <a:sym typeface="Urbanist"/>
              </a:rPr>
              <a:t>Kaggle.com</a:t>
            </a:r>
            <a:endParaRPr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121</TotalTime>
  <Words>764</Words>
  <Application>Microsoft Office PowerPoint</Application>
  <PresentationFormat>Widescreen</PresentationFormat>
  <Paragraphs>101</Paragraphs>
  <Slides>15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9" baseType="lpstr">
      <vt:lpstr>Arial</vt:lpstr>
      <vt:lpstr>Urbanist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Burke, Adam E</cp:lastModifiedBy>
  <cp:revision>7</cp:revision>
  <dcterms:modified xsi:type="dcterms:W3CDTF">2025-12-02T16:48:14Z</dcterms:modified>
</cp:coreProperties>
</file>